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18"/>
  </p:notesMasterIdLst>
  <p:sldIdLst>
    <p:sldId id="256" r:id="rId2"/>
    <p:sldId id="272" r:id="rId3"/>
    <p:sldId id="266" r:id="rId4"/>
    <p:sldId id="264" r:id="rId5"/>
    <p:sldId id="289" r:id="rId6"/>
    <p:sldId id="283" r:id="rId7"/>
    <p:sldId id="276" r:id="rId8"/>
    <p:sldId id="294" r:id="rId9"/>
    <p:sldId id="268" r:id="rId10"/>
    <p:sldId id="287" r:id="rId11"/>
    <p:sldId id="278" r:id="rId12"/>
    <p:sldId id="281" r:id="rId13"/>
    <p:sldId id="286" r:id="rId14"/>
    <p:sldId id="295" r:id="rId15"/>
    <p:sldId id="263" r:id="rId16"/>
    <p:sldId id="29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BD22D-FA1C-2DEA-741B-CAAFDAA960D3}" v="59" dt="2023-05-01T14:20:16.851"/>
    <p1510:client id="{25137BEB-C16D-4CD2-A53B-A0A484D37861}" v="6" dt="2023-05-03T02:58:33.859"/>
    <p1510:client id="{275BB2E0-848D-AA4E-56C3-D944D1BA4D5C}" v="525" dt="2023-04-26T20:23:11.714"/>
    <p1510:client id="{9E7AFDAA-AD6F-A259-C483-F835959873FC}" v="1007" dt="2023-04-29T20:21:36.160"/>
    <p1510:client id="{E08B7496-3392-8744-F31D-C1C5BE73E954}" v="873" dt="2023-04-27T19:31:56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moore" userId="c3ab7f5df9cdf3f0" providerId="Windows Live" clId="Web-{25137BEB-C16D-4CD2-A53B-A0A484D37861}"/>
    <pc:docChg chg="modSld">
      <pc:chgData name="jesse moore" userId="c3ab7f5df9cdf3f0" providerId="Windows Live" clId="Web-{25137BEB-C16D-4CD2-A53B-A0A484D37861}" dt="2023-05-03T02:58:33.859" v="5" actId="1076"/>
      <pc:docMkLst>
        <pc:docMk/>
      </pc:docMkLst>
      <pc:sldChg chg="modSp">
        <pc:chgData name="jesse moore" userId="c3ab7f5df9cdf3f0" providerId="Windows Live" clId="Web-{25137BEB-C16D-4CD2-A53B-A0A484D37861}" dt="2023-05-03T02:58:33.859" v="5" actId="1076"/>
        <pc:sldMkLst>
          <pc:docMk/>
          <pc:sldMk cId="376614757" sldId="295"/>
        </pc:sldMkLst>
        <pc:picChg chg="mod">
          <ac:chgData name="jesse moore" userId="c3ab7f5df9cdf3f0" providerId="Windows Live" clId="Web-{25137BEB-C16D-4CD2-A53B-A0A484D37861}" dt="2023-05-03T02:58:30.687" v="4" actId="1076"/>
          <ac:picMkLst>
            <pc:docMk/>
            <pc:sldMk cId="376614757" sldId="295"/>
            <ac:picMk id="5" creationId="{BB43FCEA-3FAD-21A7-0C6A-A0EAFA511D32}"/>
          </ac:picMkLst>
        </pc:picChg>
        <pc:picChg chg="mod">
          <ac:chgData name="jesse moore" userId="c3ab7f5df9cdf3f0" providerId="Windows Live" clId="Web-{25137BEB-C16D-4CD2-A53B-A0A484D37861}" dt="2023-05-03T02:58:33.859" v="5" actId="1076"/>
          <ac:picMkLst>
            <pc:docMk/>
            <pc:sldMk cId="376614757" sldId="295"/>
            <ac:picMk id="7" creationId="{A56D93B8-9710-A8F5-DD47-A804B6F94731}"/>
          </ac:picMkLst>
        </pc:picChg>
        <pc:picChg chg="mod">
          <ac:chgData name="jesse moore" userId="c3ab7f5df9cdf3f0" providerId="Windows Live" clId="Web-{25137BEB-C16D-4CD2-A53B-A0A484D37861}" dt="2023-05-03T02:58:28.390" v="3" actId="1076"/>
          <ac:picMkLst>
            <pc:docMk/>
            <pc:sldMk cId="376614757" sldId="295"/>
            <ac:picMk id="8" creationId="{14B17C23-FC61-9FED-04DE-9424BB5392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678C6-3FDF-3647-893E-10EC76EEC4DF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5F3E3-E4A3-B743-B9A9-6B71BA37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jessefmoore82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verizon.com/business/resources/reports/2022/dbir/2022-data-breach-investigations-report-dbir.pdf" TargetMode="External"/><Relationship Id="rId4" Type="http://schemas.openxmlformats.org/officeDocument/2006/relationships/hyperlink" Target="https://docs.google.com/spreadsheets/d/1PLm37YWcV9dAwEAPx5p71aL2DtW3wJBzwRfMjdetcwQ/edit?usp=sharing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current-activity/2022/02/18/cisa-compiles-free-cybersecurity-services-and-tools-network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jessefmoore821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afeeqrehman.com/wp-content/uploads/2023/03/CISO_Mindmap-2023.pdf" TargetMode="External"/><Relationship Id="rId4" Type="http://schemas.openxmlformats.org/officeDocument/2006/relationships/hyperlink" Target="https://twitter.com/SANSInstitute/status/1263825718024310784/photo/1" TargetMode="External"/></Relationships>
</file>

<file path=ppt/notesSlides/_rels/notes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luepurple.substack.com/" TargetMode="External"/><Relationship Id="rId13" Type="http://schemas.openxmlformats.org/officeDocument/2006/relationships/hyperlink" Target="https://www.microsoft.com/en-us/download/details.aspx?id=46899" TargetMode="External"/><Relationship Id="rId3" Type="http://schemas.openxmlformats.org/officeDocument/2006/relationships/hyperlink" Target="https://www.cisecurity.org/controls/cis-controls-navigator/" TargetMode="External"/><Relationship Id="rId7" Type="http://schemas.openxmlformats.org/officeDocument/2006/relationships/hyperlink" Target="https://www.cisa.gov/uscert/ncas/bulletins/sb22-234" TargetMode="External"/><Relationship Id="rId12" Type="http://schemas.openxmlformats.org/officeDocument/2006/relationships/hyperlink" Target="https://github.com/FuzzySecurity/WWHF-WayWest-2022/tree/fba2475d2f8dc7b7999cc5994ac340ca1db62090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rebsonsecurity.com/category/patches/" TargetMode="External"/><Relationship Id="rId11" Type="http://schemas.openxmlformats.org/officeDocument/2006/relationships/hyperlink" Target="https://holisticinfosec.blogspot.com/2016/12/the-dfir-hierarchy-of-needs-critical.html" TargetMode="External"/><Relationship Id="rId5" Type="http://schemas.openxmlformats.org/officeDocument/2006/relationships/hyperlink" Target="https://www.cisecurity.org/insights/blog/end-of-support-software-report-list" TargetMode="External"/><Relationship Id="rId10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Relationship Id="rId4" Type="http://schemas.openxmlformats.org/officeDocument/2006/relationships/hyperlink" Target="https://www.cisecurity.org/controls/cis-controls-navigator/#collapse-a28" TargetMode="External"/><Relationship Id="rId9" Type="http://schemas.openxmlformats.org/officeDocument/2006/relationships/hyperlink" Target="https://www.shodan.io/search?query=asn%3Aas14221%2Cas73%2Cas64247%2Cas22972%2Cas101" TargetMode="External"/><Relationship Id="rId14" Type="http://schemas.openxmlformats.org/officeDocument/2006/relationships/hyperlink" Target="https://github.com/TrimarcJake/Locksmith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lence-is-best/files/blob/main/translate_f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ttack.mitre.org/groups/" TargetMode="External"/><Relationship Id="rId5" Type="http://schemas.openxmlformats.org/officeDocument/2006/relationships/hyperlink" Target="https://twitter.com/jepaynemsft/status/1255991971845308416" TargetMode="External"/><Relationship Id="rId4" Type="http://schemas.openxmlformats.org/officeDocument/2006/relationships/hyperlink" Target="https://securelist.com/modern-ransomware-groups-ttps/106824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ackhat.com/docs/webcast/04262018-Webcast-Toxic-Waste-Removal-by-Andy-Robbins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zeronetworks/BloodHound-Tools/tree/main/Ransomulator" TargetMode="External"/><Relationship Id="rId4" Type="http://schemas.openxmlformats.org/officeDocument/2006/relationships/hyperlink" Target="https://www.youtube.com/watch?v=vga7A2tYejE&amp;t=5s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ajdini.net/blog/penetration/active-directory-penetration-mind-map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playlist?list=PLk-dPXV5k8SEtiTgi9wgxmDS0CCZQur6H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alerts/aa22-249a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isecurity.org/insights/blog/end-of-support-software-report-list" TargetMode="External"/><Relationship Id="rId13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Relationship Id="rId3" Type="http://schemas.openxmlformats.org/officeDocument/2006/relationships/hyperlink" Target="https://www.cisa.gov/known-exploited-vulnerabilities-catalog" TargetMode="External"/><Relationship Id="rId7" Type="http://schemas.openxmlformats.org/officeDocument/2006/relationships/hyperlink" Target="https://grizzly-dibble-cdb.notion.site/Ansible-WindowsUpdate4Servers-71dfb596b0ca4c3c8edae5eb05451d6b" TargetMode="External"/><Relationship Id="rId12" Type="http://schemas.openxmlformats.org/officeDocument/2006/relationships/hyperlink" Target="https://www.shodan.io/search?query=asn%3Aas14221%2Cas73%2Cas64247%2Cas22972%2Cas101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lab.com/cfc-redteam-dev/2022/general/playbook/-/blob/main/chains/basic_pivot/recap/response.md" TargetMode="External"/><Relationship Id="rId11" Type="http://schemas.openxmlformats.org/officeDocument/2006/relationships/hyperlink" Target="https://bluepurple.substack.com/" TargetMode="External"/><Relationship Id="rId5" Type="http://schemas.openxmlformats.org/officeDocument/2006/relationships/hyperlink" Target="https://atc-project.github.io/react-navigator/" TargetMode="External"/><Relationship Id="rId15" Type="http://schemas.openxmlformats.org/officeDocument/2006/relationships/hyperlink" Target="https://github.com/WGU-CCDC/Blue-Team-Tools/blob/main/windows_hardening.cmd" TargetMode="External"/><Relationship Id="rId10" Type="http://schemas.openxmlformats.org/officeDocument/2006/relationships/hyperlink" Target="https://www.cisa.gov/uscert/ncas/bulletins/sb22-234" TargetMode="External"/><Relationship Id="rId4" Type="http://schemas.openxmlformats.org/officeDocument/2006/relationships/hyperlink" Target="https://bia.cisecurity.org/" TargetMode="External"/><Relationship Id="rId9" Type="http://schemas.openxmlformats.org/officeDocument/2006/relationships/hyperlink" Target="https://krebsonsecurity.com/category/patches/" TargetMode="External"/><Relationship Id="rId14" Type="http://schemas.openxmlformats.org/officeDocument/2006/relationships/hyperlink" Target="https://holisticinfosec.blogspot.com/2016/12/the-dfir-hierarchy-of-needs-critical.html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_cWWL-yyb0&amp;t=295s" TargetMode="External"/><Relationship Id="rId7" Type="http://schemas.openxmlformats.org/officeDocument/2006/relationships/hyperlink" Target="https://bnb.silverday.de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witter.com/xtremepentest/status/1502920012767580163?lang=en" TargetMode="External"/><Relationship Id="rId5" Type="http://schemas.openxmlformats.org/officeDocument/2006/relationships/hyperlink" Target="https://screencast-o-matic.com/watch/c3QIFGVOFmz" TargetMode="External"/><Relationship Id="rId4" Type="http://schemas.openxmlformats.org/officeDocument/2006/relationships/hyperlink" Target="https://twitter.com/GossiTheDog/status/1578313384298094592?s=20&amp;t=I8HGr3JHIo-7XCneXSZmOQ" TargetMode="Externa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com/cfc-redteam-dev/2022/general/playbook/-/blob/main/chains/basic_pivot/recap/response.md" TargetMode="External"/><Relationship Id="rId13" Type="http://schemas.openxmlformats.org/officeDocument/2006/relationships/hyperlink" Target="https://bluepurple.substack.com/" TargetMode="External"/><Relationship Id="rId3" Type="http://schemas.openxmlformats.org/officeDocument/2006/relationships/hyperlink" Target="https://www.cisa.gov/resources-tools/services?page=1" TargetMode="External"/><Relationship Id="rId7" Type="http://schemas.openxmlformats.org/officeDocument/2006/relationships/hyperlink" Target="https://atc-project.github.io/react-navigator/" TargetMode="External"/><Relationship Id="rId12" Type="http://schemas.openxmlformats.org/officeDocument/2006/relationships/hyperlink" Target="https://www.cisa.gov/uscert/ncas/bulletins/sb22-234" TargetMode="External"/><Relationship Id="rId17" Type="http://schemas.openxmlformats.org/officeDocument/2006/relationships/hyperlink" Target="https://github.com/WGU-CCDC/Blue-Team-Tools/blob/main/windows_hardening.cmd" TargetMode="External"/><Relationship Id="rId2" Type="http://schemas.openxmlformats.org/officeDocument/2006/relationships/slide" Target="../slides/slide14.xml"/><Relationship Id="rId16" Type="http://schemas.openxmlformats.org/officeDocument/2006/relationships/hyperlink" Target="https://holisticinfosec.blogspot.com/2016/12/the-dfir-hierarchy-of-needs-critical.html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lay.backdoorsandbreaches.com/" TargetMode="External"/><Relationship Id="rId11" Type="http://schemas.openxmlformats.org/officeDocument/2006/relationships/hyperlink" Target="https://krebsonsecurity.com/category/patches/" TargetMode="External"/><Relationship Id="rId5" Type="http://schemas.openxmlformats.org/officeDocument/2006/relationships/hyperlink" Target="https://www.nextron-systems.com/thor-lite/" TargetMode="External"/><Relationship Id="rId15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Relationship Id="rId10" Type="http://schemas.openxmlformats.org/officeDocument/2006/relationships/hyperlink" Target="https://www.cisecurity.org/insights/blog/end-of-support-software-report-list" TargetMode="External"/><Relationship Id="rId4" Type="http://schemas.openxmlformats.org/officeDocument/2006/relationships/hyperlink" Target="https://bia.cisecurity.org/" TargetMode="External"/><Relationship Id="rId9" Type="http://schemas.openxmlformats.org/officeDocument/2006/relationships/hyperlink" Target="https://grizzly-dibble-cdb.notion.site/Ansible-WindowsUpdate4Servers-71dfb596b0ca4c3c8edae5eb05451d6b" TargetMode="External"/><Relationship Id="rId14" Type="http://schemas.openxmlformats.org/officeDocument/2006/relationships/hyperlink" Target="https://www.shodan.io/search?query=asn%3Aas14221%2Cas73%2Cas64247%2Cas22972%2Cas101" TargetMode="External"/></Relationships>
</file>

<file path=ppt/notesSlides/_rels/notes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lackhillsinfosec.com/tag/active-directory/" TargetMode="External"/><Relationship Id="rId3" Type="http://schemas.openxmlformats.org/officeDocument/2006/relationships/hyperlink" Target="https://www.cisecurity.org/controls/v8" TargetMode="External"/><Relationship Id="rId7" Type="http://schemas.openxmlformats.org/officeDocument/2006/relationships/hyperlink" Target="https://www.semperis.com/solutions/uncover-active-directory-attack-paths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osts.specterops.io/attacking-azure-azure-ad-and-introducing-powerzure-ca70b330511a" TargetMode="External"/><Relationship Id="rId5" Type="http://schemas.openxmlformats.org/officeDocument/2006/relationships/hyperlink" Target="https://www.hub.trimarcsecurity.com/post/securing-active-directory-performing-an-active-directory-security-review" TargetMode="External"/><Relationship Id="rId10" Type="http://schemas.openxmlformats.org/officeDocument/2006/relationships/hyperlink" Target="https://github.com/cisagov/cset/releases/tag/v10.3.0.0" TargetMode="External"/><Relationship Id="rId4" Type="http://schemas.openxmlformats.org/officeDocument/2006/relationships/hyperlink" Target="https://learn.microsoft.com/en-us/services-hub/unified/health/getting-started-adsecurity" TargetMode="External"/><Relationship Id="rId9" Type="http://schemas.openxmlformats.org/officeDocument/2006/relationships/hyperlink" Target="https://csrc.nist.gov/projects/ransomware-protection-and-response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CSRC/media/Projects/ransomware-protection-and-response/documents/NIST_Ransomware_Tips_and_Tactics_Infographic.pdf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ia.cisecurity.org/?next=/dashboard/" TargetMode="External"/><Relationship Id="rId4" Type="http://schemas.openxmlformats.org/officeDocument/2006/relationships/hyperlink" Target="https://github.com/cisagov/cset/releases/tag/v10.3.0.0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 panose="020F0502020204030204"/>
              </a:rPr>
              <a:t>Polleverywhere</a:t>
            </a:r>
            <a:r>
              <a:rPr lang="en-US">
                <a:cs typeface="Calibri" panose="020F0502020204030204"/>
              </a:rPr>
              <a:t>:</a:t>
            </a:r>
          </a:p>
          <a:p>
            <a:r>
              <a:rPr lang="en-US">
                <a:hlinkClick r:id="rId3"/>
              </a:rPr>
              <a:t>https://pollev.com/jessefmoore821</a:t>
            </a:r>
            <a:endParaRPr lang="en-US">
              <a:cs typeface="Calibri" panose="020F0502020204030204"/>
              <a:hlinkClick r:id="rId3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Spreadsheet of Tools/Projects:</a:t>
            </a:r>
            <a:endParaRPr lang="en-US"/>
          </a:p>
          <a:p>
            <a:r>
              <a:rPr lang="en-US">
                <a:hlinkClick r:id="rId4"/>
              </a:rPr>
              <a:t>https://docs.google.com/spreadsheets/d/1PLm37YWcV9dAwEAPx5p71aL2DtW3wJBzwRfMjdetcwQ/edit?usp=sharing</a:t>
            </a:r>
            <a:endParaRPr lang="en-US">
              <a:cs typeface="Calibri" panose="020F0502020204030204"/>
              <a:hlinkClick r:id="rId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Verizon DBIR: </a:t>
            </a:r>
            <a:r>
              <a:rPr lang="en-US">
                <a:hlinkClick r:id="rId5"/>
              </a:rPr>
              <a:t>2022-data-breach-investigations-report-dbir.pdf (verizon.com)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0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hlinkClick r:id="rId3"/>
              </a:rPr>
              <a:t>Example of Disclaimer: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hlinkClick r:id="rId3"/>
              </a:rPr>
              <a:t>CISA Compiles Free Cybersecurity Services and Tools for Network Defenders | CISA</a:t>
            </a:r>
            <a:endParaRPr lang="en-US"/>
          </a:p>
          <a:p>
            <a:endParaRPr lang="en-US"/>
          </a:p>
          <a:p>
            <a:r>
              <a:rPr lang="en-US">
                <a:cs typeface="Calibri"/>
              </a:rPr>
              <a:t>This is not a comprehensive list of things...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Stories/Reasons: I am A..., Who Helps..., Because... These experiences have shaped my perspectives. Hope to be helpful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Rather than SIEM do logging with Sysmon</a:t>
            </a:r>
            <a:endParaRPr lang="en-US"/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Rather than scan with </a:t>
            </a:r>
            <a:r>
              <a:rPr lang="en-US" err="1">
                <a:cs typeface="Calibri"/>
              </a:rPr>
              <a:t>NeXpose</a:t>
            </a:r>
            <a:r>
              <a:rPr lang="en-US">
                <a:cs typeface="Calibri"/>
              </a:rPr>
              <a:t> or Nessus do WinUpdate4Biz, SCCM/</a:t>
            </a:r>
            <a:r>
              <a:rPr lang="en-US" err="1">
                <a:cs typeface="Calibri"/>
              </a:rPr>
              <a:t>PatchMyPC</a:t>
            </a:r>
            <a:r>
              <a:rPr lang="en-US">
                <a:cs typeface="Calibri"/>
              </a:rPr>
              <a:t>, WSUS, Firewall(Public2Private), </a:t>
            </a:r>
            <a:r>
              <a:rPr lang="en-US" err="1">
                <a:cs typeface="Calibri"/>
              </a:rPr>
              <a:t>etc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33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Added what the Students would see at every Cyber Attack, and hint, please have memory Forensics and Sysmon, EDR, </a:t>
            </a:r>
            <a:r>
              <a:rPr lang="en-US" err="1">
                <a:cs typeface="Calibri"/>
              </a:rPr>
              <a:t>etc</a:t>
            </a:r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CyberForce</a:t>
            </a:r>
            <a:r>
              <a:rPr lang="en-US">
                <a:cs typeface="Calibri"/>
              </a:rPr>
              <a:t>: Velociraptor, </a:t>
            </a:r>
            <a:r>
              <a:rPr lang="en-US" err="1">
                <a:cs typeface="Calibri"/>
              </a:rPr>
              <a:t>Blueteam</a:t>
            </a:r>
            <a:r>
              <a:rPr lang="en-US">
                <a:cs typeface="Calibri"/>
              </a:rPr>
              <a:t> Defense tools against Red and Dev Red Team vulns</a:t>
            </a:r>
            <a:endParaRPr lang="en-US"/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Training; Phish with device codes, Setup C2 and obfuscate payload, and how to </a:t>
            </a:r>
            <a:r>
              <a:rPr lang="en-US" err="1">
                <a:cs typeface="Calibri"/>
              </a:rPr>
              <a:t>enum</a:t>
            </a:r>
            <a:r>
              <a:rPr lang="en-US">
                <a:cs typeface="Calibri"/>
              </a:rPr>
              <a:t> Teams and Search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Stories/Reasons: I am A..., Who Helps..., Because...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Email everyone you know letting them know you would never ask for gift cards or  wire transfers</a:t>
            </a:r>
          </a:p>
          <a:p>
            <a:endParaRPr lang="en-US">
              <a:cs typeface="Calibri"/>
            </a:endParaRPr>
          </a:p>
          <a:p>
            <a:r>
              <a:rPr lang="en-US"/>
              <a:t>Security is my after work hobby, so I am passionate about it. 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19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Polleverywhere</a:t>
            </a:r>
          </a:p>
          <a:p>
            <a:r>
              <a:rPr lang="en-US">
                <a:hlinkClick r:id="rId3"/>
              </a:rPr>
              <a:t>https://pollev.com/jessefmoore821</a:t>
            </a:r>
            <a:endParaRPr lang="en-US">
              <a:cs typeface="Calibri" panose="020F0502020204030204"/>
              <a:hlinkClick r:id="rId3"/>
            </a:endParaRPr>
          </a:p>
          <a:p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>
                <a:hlinkClick r:id="rId4"/>
              </a:rPr>
              <a:t>SANS Institute on Twitter: "Do you have the latest SANS #cybersecurity posters like this gem, #CISO Mind Map, from SANS Security Leadership? Download your copy: https://t.co/EGtTUwZEFr https://t.co/ruc8cu85sI" / Twitter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>
                <a:hlinkClick r:id="rId4"/>
              </a:rPr>
              <a:t>https://twitter.com/SANSInstitute/status/1263825718024310784/photo/1</a:t>
            </a:r>
            <a:endParaRPr lang="en-US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r>
              <a:rPr lang="en-US">
                <a:hlinkClick r:id="rId5"/>
              </a:rPr>
              <a:t>https://rafeeqrehman.com/wp-content/uploads/2023/03/CISO_Mindmap-2023.pdf</a:t>
            </a:r>
            <a:endParaRPr lang="en-US">
              <a:cs typeface="Calibri"/>
              <a:hlinkClick r:id="rId5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8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10 Enterprise LTSC 2021 expires 2027:</a:t>
            </a:r>
          </a:p>
          <a:p>
            <a:r>
              <a:rPr lang="en-US" dirty="0"/>
              <a:t>https://learn.microsoft.com/en-us/lifecycle/products/windows-10-enterprise-ltsc-2021</a:t>
            </a:r>
            <a:endParaRPr lang="en-US" dirty="0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UW </a:t>
            </a:r>
            <a:r>
              <a:rPr lang="en-US" dirty="0" err="1">
                <a:cs typeface="Calibri"/>
              </a:rPr>
              <a:t>GoogleSheets</a:t>
            </a:r>
            <a:r>
              <a:rPr lang="en-US" dirty="0">
                <a:cs typeface="Calibri"/>
              </a:rPr>
              <a:t>:</a:t>
            </a:r>
          </a:p>
          <a:p>
            <a:r>
              <a:rPr lang="en-US" dirty="0">
                <a:ea typeface="Calibri"/>
                <a:cs typeface="Calibri"/>
              </a:rPr>
              <a:t>https://docs.google.com/spreadsheets/d/14SuyZOHVYs3PnGzfu_sTUigj2LVNbl02fkV0HtJ6fnA/edit?usp=sharing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/>
              <a:t>GAP Analysis and NIST-SP-800-30 as a risk assessment...</a:t>
            </a:r>
          </a:p>
          <a:p>
            <a:endParaRPr lang="en-US" dirty="0"/>
          </a:p>
          <a:p>
            <a:r>
              <a:rPr lang="en-US" dirty="0"/>
              <a:t>CIS Navigator --&gt; </a:t>
            </a:r>
            <a:r>
              <a:rPr lang="en-US" dirty="0">
                <a:hlinkClick r:id="rId3"/>
              </a:rPr>
              <a:t>https://www.cisecurity.org/controls/cis-controls-navigator/</a:t>
            </a:r>
            <a:endParaRPr lang="en-US" dirty="0"/>
          </a:p>
          <a:p>
            <a:pPr algn="ctr"/>
            <a:r>
              <a:rPr lang="en-US" b="1" dirty="0"/>
              <a:t>4.2</a:t>
            </a:r>
            <a:endParaRPr lang="en-US" dirty="0"/>
          </a:p>
          <a:p>
            <a:r>
              <a:rPr lang="en-US" dirty="0">
                <a:hlinkClick r:id="rId4"/>
              </a:rPr>
              <a:t>Establish and Maintain a Secure Configuration Process for Network Infrastructure</a:t>
            </a:r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hlinkClick r:id="rId5"/>
              </a:rPr>
              <a:t>End-of-Support Software Report List (cisecurity.org)</a:t>
            </a:r>
            <a:endParaRPr lang="en-US" dirty="0"/>
          </a:p>
          <a:p>
            <a:endParaRPr lang="en-US"/>
          </a:p>
          <a:p>
            <a:r>
              <a:rPr lang="en-US" dirty="0">
                <a:hlinkClick r:id="rId6"/>
              </a:rPr>
              <a:t>Time to Patch – Krebs on Security  </a:t>
            </a:r>
            <a:endParaRPr lang="en-US" dirty="0"/>
          </a:p>
          <a:p>
            <a:r>
              <a:rPr lang="en-US" dirty="0">
                <a:cs typeface="Calibri"/>
              </a:rPr>
              <a:t>Maybe look at Winget, </a:t>
            </a:r>
            <a:r>
              <a:rPr lang="en-US" dirty="0" err="1">
                <a:cs typeface="Calibri"/>
              </a:rPr>
              <a:t>AutoUpdate</a:t>
            </a:r>
            <a:r>
              <a:rPr lang="en-US" dirty="0">
                <a:cs typeface="Calibri"/>
              </a:rPr>
              <a:t> Windows, Ansible, </a:t>
            </a:r>
            <a:r>
              <a:rPr lang="en-US" dirty="0" err="1">
                <a:cs typeface="Calibri"/>
              </a:rPr>
              <a:t>Chocolatley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AutoPatch</a:t>
            </a:r>
            <a:r>
              <a:rPr lang="en-US" dirty="0">
                <a:cs typeface="Calibri"/>
              </a:rPr>
              <a:t> via Azure tenant/</a:t>
            </a:r>
            <a:r>
              <a:rPr lang="en-US" dirty="0" err="1">
                <a:cs typeface="Calibri"/>
              </a:rPr>
              <a:t>inTune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7"/>
              </a:rPr>
              <a:t>Vulnerability Summary for the Week of August 15, 2022 | CISA</a:t>
            </a:r>
            <a:endParaRPr lang="en-US" dirty="0">
              <a:cs typeface="Calibri"/>
              <a:hlinkClick r:id="rId7"/>
            </a:endParaRPr>
          </a:p>
          <a:p>
            <a:endParaRPr lang="en-US"/>
          </a:p>
          <a:p>
            <a:r>
              <a:rPr lang="en-US" dirty="0">
                <a:hlinkClick r:id="rId8"/>
              </a:rPr>
              <a:t>Cyber Defence News for Blue &amp; Purple Teams | Ollie | Substack</a:t>
            </a:r>
            <a:endParaRPr lang="en-US" dirty="0">
              <a:cs typeface="Calibri"/>
              <a:hlinkClick r:id="rId8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9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10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11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11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hlinkClick r:id="rId12"/>
              </a:rPr>
              <a:t>FuzzySecurity/WWHF-WayWest-2022 at fba2475d2f8dc7b7999cc5994ac340ca1db62090 (github.com)</a:t>
            </a:r>
            <a:endParaRPr lang="en-US" dirty="0"/>
          </a:p>
          <a:p>
            <a:endParaRPr lang="en-US">
              <a:cs typeface="Calibri"/>
            </a:endParaRPr>
          </a:p>
          <a:p>
            <a:r>
              <a:rPr lang="en-US" dirty="0">
                <a:hlinkClick r:id="rId13"/>
              </a:rPr>
              <a:t>Download Local Administrator Password Solution (LAPS) from Official Microsoft Download Center</a:t>
            </a:r>
            <a:endParaRPr lang="en-US" dirty="0"/>
          </a:p>
          <a:p>
            <a:endParaRPr lang="en-US"/>
          </a:p>
          <a:p>
            <a:r>
              <a:rPr lang="en-US" dirty="0">
                <a:hlinkClick r:id="rId14"/>
              </a:rPr>
              <a:t>TrimarcJake/Locksmith: A tiny tool to identify and remediate common misconfigurations in Active Directory Certificate Services (github.com)</a:t>
            </a:r>
            <a:endParaRPr lang="en-US" dirty="0"/>
          </a:p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09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Move Public to Private.</a:t>
            </a:r>
            <a:endParaRPr lang="en-US"/>
          </a:p>
          <a:p>
            <a:endParaRPr lang="en-US"/>
          </a:p>
          <a:p>
            <a:r>
              <a:rPr lang="en-US">
                <a:hlinkClick r:id="rId3"/>
              </a:rPr>
              <a:t>files/translate_f.pdf at main · silence-is-best/files (github.com)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/>
              <a:t>https://tinyurl.com/NSRan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>
                <a:hlinkClick r:id="rId4"/>
              </a:rPr>
              <a:t>The hateful eight: Kaspersky’s guide to modern ransomware groups’ TTPs | Securelist</a:t>
            </a:r>
            <a:endParaRPr lang="en-US"/>
          </a:p>
          <a:p>
            <a:endParaRPr lang="en-US"/>
          </a:p>
          <a:p>
            <a:r>
              <a:rPr lang="en-US"/>
              <a:t>Jessica from Microsoft (IR at the time):</a:t>
            </a:r>
            <a:endParaRPr lang="en-US">
              <a:cs typeface="Calibri" panose="020F0502020204030204"/>
            </a:endParaRPr>
          </a:p>
          <a:p>
            <a:r>
              <a:rPr lang="en-US">
                <a:hlinkClick r:id="rId5"/>
              </a:rPr>
              <a:t>https://twitter.com/jepaynemsft/status/1255991971845308416</a:t>
            </a:r>
            <a:endParaRPr lang="en-US">
              <a:cs typeface="Calibri"/>
              <a:hlinkClick r:id="rId5"/>
            </a:endParaRPr>
          </a:p>
          <a:p>
            <a:endParaRPr lang="en-US">
              <a:cs typeface="Calibri"/>
            </a:endParaRPr>
          </a:p>
          <a:p>
            <a:r>
              <a:rPr lang="en-US">
                <a:hlinkClick r:id="rId6"/>
              </a:rPr>
              <a:t>https://attack.mitre.org/groups/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99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Exchange and </a:t>
            </a:r>
            <a:r>
              <a:rPr lang="en-US" err="1">
                <a:cs typeface="Calibri"/>
              </a:rPr>
              <a:t>BloodHound</a:t>
            </a:r>
            <a:r>
              <a:rPr lang="en-US">
                <a:cs typeface="Calibri"/>
              </a:rPr>
              <a:t> maps...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hlinkClick r:id="rId3"/>
              </a:rPr>
              <a:t>04262018-Webcast-Toxic-Waste-Removal-by-Andy-Robbins.pdf (blackhat.com)</a:t>
            </a:r>
            <a:endParaRPr lang="en-US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cs typeface="Calibri"/>
              </a:rPr>
              <a:t>AD Mitigations: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hlinkClick r:id="rId4"/>
              </a:rPr>
              <a:t>https://www.youtube.com/watch?v=vga7A2tYejE&amp;t=5s</a:t>
            </a:r>
            <a:endParaRPr lang="en-US" b="1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cs typeface="Calibri" panose="020F0502020204030204"/>
              </a:rPr>
              <a:t>Simulate Ransomware: </a:t>
            </a:r>
            <a:r>
              <a:rPr lang="en-US" err="1"/>
              <a:t>sudo</a:t>
            </a:r>
            <a:r>
              <a:rPr lang="en-US"/>
              <a:t> git clone </a:t>
            </a:r>
            <a:r>
              <a:rPr lang="en-US">
                <a:hlinkClick r:id="rId5"/>
              </a:rPr>
              <a:t>https://github.com/zeronetworks/BloodHound-Tools/tree/main/Ransomulator</a:t>
            </a:r>
            <a:r>
              <a:rPr lang="en-US"/>
              <a:t>
sudo apt-update
</a:t>
            </a:r>
            <a:r>
              <a:rPr lang="en-US" err="1"/>
              <a:t>sudo</a:t>
            </a:r>
            <a:r>
              <a:rPr lang="en-US"/>
              <a:t> apt-upgrade
</a:t>
            </a:r>
            <a:r>
              <a:rPr lang="en-US" err="1"/>
              <a:t>sudo</a:t>
            </a:r>
            <a:r>
              <a:rPr lang="en-US"/>
              <a:t> apt-get install python3-pip
</a:t>
            </a:r>
            <a:r>
              <a:rPr lang="en-US" err="1"/>
              <a:t>sudo</a:t>
            </a:r>
            <a:r>
              <a:rPr lang="en-US"/>
              <a:t> apt-cache </a:t>
            </a:r>
            <a:r>
              <a:rPr lang="en-US" err="1"/>
              <a:t>madison</a:t>
            </a:r>
            <a:r>
              <a:rPr lang="en-US"/>
              <a:t> neo4j
python3 -m pip install neo4j
python3 -m pip install neo4j-driver
pip3 install </a:t>
            </a:r>
            <a:r>
              <a:rPr lang="en-US" err="1"/>
              <a:t>cornershot</a:t>
            </a:r>
            <a:r>
              <a:rPr lang="en-US"/>
              <a:t>
</a:t>
            </a:r>
            <a:r>
              <a:rPr lang="en-US" err="1"/>
              <a:t>root@kali</a:t>
            </a:r>
            <a:r>
              <a:rPr lang="en-US"/>
              <a:t>:~/Downloads/BloodHound-linux-x64/</a:t>
            </a:r>
            <a:r>
              <a:rPr lang="en-US" err="1"/>
              <a:t>BloodHound</a:t>
            </a:r>
            <a:r>
              <a:rPr lang="en-US"/>
              <a:t>-Tools/
python3 ransomulator.py -p </a:t>
            </a:r>
            <a:r>
              <a:rPr lang="en-US" err="1"/>
              <a:t>BloodHound</a:t>
            </a:r>
            <a:endParaRPr lang="en-US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51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>
                <a:cs typeface="Calibri"/>
              </a:rPr>
              <a:t>Pentesting</a:t>
            </a:r>
            <a:r>
              <a:rPr lang="en-US" b="1" dirty="0">
                <a:cs typeface="Calibri"/>
              </a:rPr>
              <a:t>:</a:t>
            </a:r>
            <a:endParaRPr lang="en-US" b="1" dirty="0"/>
          </a:p>
          <a:p>
            <a:r>
              <a:rPr lang="en-US" dirty="0">
                <a:hlinkClick r:id="rId3"/>
              </a:rPr>
              <a:t>Active Directory Penetration Mind Map – Mahyar Notes (tajdini.net)</a:t>
            </a:r>
            <a:endParaRPr lang="en-US"/>
          </a:p>
          <a:p>
            <a:endParaRPr lang="en-US" dirty="0"/>
          </a:p>
          <a:p>
            <a:endParaRPr lang="en-US" b="1" dirty="0"/>
          </a:p>
          <a:p>
            <a:r>
              <a:rPr lang="en-US" b="1" dirty="0" err="1"/>
              <a:t>TrustedSec</a:t>
            </a:r>
            <a:r>
              <a:rPr lang="en-US" dirty="0"/>
              <a:t> -</a:t>
            </a:r>
            <a:r>
              <a:rPr lang="en-US" b="0" i="0" dirty="0">
                <a:effectLst/>
                <a:latin typeface="Roboto"/>
                <a:ea typeface="Roboto"/>
                <a:cs typeface="Roboto"/>
                <a:hlinkClick r:id="rId4"/>
              </a:rPr>
              <a:t>Back to the Basics of Security Practices</a:t>
            </a:r>
            <a:endParaRPr lang="en-US" dirty="0">
              <a:latin typeface="Calibri"/>
              <a:ea typeface="Roboto"/>
              <a:cs typeface="Calibri"/>
            </a:endParaRPr>
          </a:p>
          <a:p>
            <a:r>
              <a:rPr lang="en-US" dirty="0"/>
              <a:t>https://www.youtube.com/watch?v=dJT2pVNAbfA&amp;list=PLk-dPXV5k8SEtiTgi9wgxmDS0CCZQur6H</a:t>
            </a:r>
            <a:endParaRPr lang="en-US" dirty="0">
              <a:cs typeface="Calibri"/>
            </a:endParaRPr>
          </a:p>
          <a:p>
            <a:endParaRPr lang="en-US"/>
          </a:p>
          <a:p>
            <a:r>
              <a:rPr lang="en-US" b="1" dirty="0" err="1"/>
              <a:t>PingCastle</a:t>
            </a:r>
            <a:r>
              <a:rPr lang="en-US" b="1" dirty="0"/>
              <a:t> AD Assessment</a:t>
            </a:r>
            <a:endParaRPr lang="en-US" b="1" dirty="0">
              <a:cs typeface="Calibri"/>
            </a:endParaRPr>
          </a:p>
          <a:p>
            <a:r>
              <a:rPr lang="en-US" dirty="0"/>
              <a:t>https://www.pingcastle.com/download/</a:t>
            </a:r>
            <a:endParaRPr lang="en-US" dirty="0">
              <a:cs typeface="Calibri"/>
            </a:endParaRP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71717"/>
                </a:solidFill>
                <a:effectLst/>
                <a:latin typeface="Segoe UI"/>
                <a:cs typeface="Segoe UI"/>
              </a:rPr>
              <a:t>Active Directory On-Demand Assessment</a:t>
            </a:r>
            <a:endParaRPr lang="en-US" dirty="0">
              <a:latin typeface="Segoe UI"/>
              <a:cs typeface="Segoe UI"/>
            </a:endParaRPr>
          </a:p>
          <a:p>
            <a:r>
              <a:rPr lang="en-US" dirty="0"/>
              <a:t>https://learn.microsoft.com/en-us/services-hub/health/getting-started-ad</a:t>
            </a:r>
            <a:endParaRPr lang="en-US" dirty="0">
              <a:cs typeface="Calibri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97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>
              <a:hlinkClick r:id="rId3"/>
            </a:endParaRPr>
          </a:p>
          <a:p>
            <a:r>
              <a:rPr lang="en-US" u="sng">
                <a:cs typeface="Calibri"/>
              </a:rPr>
              <a:t>https://thedfirreport.com/</a:t>
            </a:r>
          </a:p>
          <a:p>
            <a:endParaRPr lang="en-US" u="sng">
              <a:hlinkClick r:id="rId3"/>
            </a:endParaRPr>
          </a:p>
          <a:p>
            <a:r>
              <a:rPr lang="en-US" u="sng">
                <a:hlinkClick r:id="rId3"/>
              </a:rPr>
              <a:t>Brute Ratel: </a:t>
            </a:r>
          </a:p>
          <a:p>
            <a:r>
              <a:rPr lang="en-US" u="sng">
                <a:hlinkClick r:id="rId3"/>
              </a:rPr>
              <a:t>https://www.youtube.com/watch?v=hAHkJSPCc2A</a:t>
            </a:r>
          </a:p>
          <a:p>
            <a:endParaRPr lang="en-US" u="sng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89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ASSUME EMAIL FILTERS...  </a:t>
            </a:r>
            <a:r>
              <a:rPr lang="en-US" dirty="0" err="1">
                <a:cs typeface="Calibri"/>
              </a:rPr>
              <a:t>ProofPoint</a:t>
            </a:r>
            <a:r>
              <a:rPr lang="en-US" dirty="0">
                <a:cs typeface="Calibri"/>
              </a:rPr>
              <a:t> etc.</a:t>
            </a:r>
          </a:p>
          <a:p>
            <a:r>
              <a:rPr lang="en-US" dirty="0">
                <a:cs typeface="Calibri"/>
              </a:rPr>
              <a:t>Assumes Exchange fixed.</a:t>
            </a:r>
          </a:p>
          <a:p>
            <a:r>
              <a:rPr lang="en-US" dirty="0">
                <a:cs typeface="Calibri"/>
              </a:rPr>
              <a:t>Lots of odd devices like Switches, routers, </a:t>
            </a:r>
            <a:r>
              <a:rPr lang="en-US" dirty="0" err="1">
                <a:cs typeface="Calibri"/>
              </a:rPr>
              <a:t>iOT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raspberryPi</a:t>
            </a:r>
            <a:r>
              <a:rPr lang="en-US" dirty="0">
                <a:cs typeface="Calibri"/>
              </a:rPr>
              <a:t> can be automated with Ansible..</a:t>
            </a:r>
          </a:p>
          <a:p>
            <a:r>
              <a:rPr lang="en-US" dirty="0">
                <a:cs typeface="Calibri"/>
              </a:rPr>
              <a:t>Obtain Vendor security alerts.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https://www.cisa.gov/known-exploited-vulnerabilities-catalog</a:t>
            </a:r>
            <a:endParaRPr lang="en-US"/>
          </a:p>
          <a:p>
            <a:endParaRPr lang="en-US" dirty="0"/>
          </a:p>
          <a:p>
            <a:r>
              <a:rPr lang="en-US" dirty="0">
                <a:cs typeface="Calibri"/>
              </a:rPr>
              <a:t>CIS BIA</a:t>
            </a:r>
          </a:p>
          <a:p>
            <a:r>
              <a:rPr lang="en-US" dirty="0">
                <a:hlinkClick r:id="rId4"/>
              </a:rPr>
              <a:t>https://bia.cisecurity.org/</a:t>
            </a:r>
            <a:endParaRPr lang="en-US" dirty="0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Controls to use or think about</a:t>
            </a:r>
            <a:endParaRPr lang="en-US" dirty="0"/>
          </a:p>
          <a:p>
            <a:r>
              <a:rPr lang="en-US" dirty="0">
                <a:hlinkClick r:id="rId5"/>
              </a:rPr>
              <a:t>https://atc-project.github.io/react-navigator/</a:t>
            </a:r>
            <a:endParaRPr lang="en-US" dirty="0">
              <a:cs typeface="Calibri"/>
              <a:hlinkClick r:id="rId5"/>
            </a:endParaRPr>
          </a:p>
          <a:p>
            <a:endParaRPr lang="en-US">
              <a:cs typeface="Calibri"/>
            </a:endParaRPr>
          </a:p>
          <a:p>
            <a:r>
              <a:rPr lang="en-US" dirty="0" err="1">
                <a:cs typeface="Calibri"/>
              </a:rPr>
              <a:t>CyberForce</a:t>
            </a:r>
            <a:r>
              <a:rPr lang="en-US" dirty="0">
                <a:cs typeface="Calibri"/>
              </a:rPr>
              <a:t> and logging …. Its tough to see what happens on systems. Need to rely on Win Defender, AMSI for Memory, and EDR and logs to review…</a:t>
            </a:r>
          </a:p>
          <a:p>
            <a:r>
              <a:rPr lang="en-US" dirty="0">
                <a:hlinkClick r:id="rId6"/>
              </a:rPr>
              <a:t>chains/basic_pivot/recap/response.md · main · cfc-redteam-dev / 2022 / general / playbook · GitLab</a:t>
            </a:r>
            <a:endParaRPr lang="en-US" dirty="0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Ansible for Windows Updates for Servers.</a:t>
            </a:r>
            <a:endParaRPr lang="en-US" dirty="0"/>
          </a:p>
          <a:p>
            <a:r>
              <a:rPr lang="en-US" dirty="0">
                <a:hlinkClick r:id="rId7"/>
              </a:rPr>
              <a:t>https://grizzly-dibble-cdb.notion.site/Ansible-WindowsUpdate4Servers-71dfb596b0ca4c3c8edae5eb05451d6b</a:t>
            </a:r>
            <a:endParaRPr lang="en-US" dirty="0">
              <a:cs typeface="Calibri"/>
              <a:hlinkClick r:id="rId7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@_wald0 azure </a:t>
            </a:r>
            <a:r>
              <a:rPr lang="en-US" dirty="0" err="1">
                <a:ea typeface="Calibri"/>
                <a:cs typeface="Calibri"/>
              </a:rPr>
              <a:t>github</a:t>
            </a:r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hlinkClick r:id="rId8"/>
              </a:rPr>
              <a:t>End-of-Support Software Report List (cisecurity.org)</a:t>
            </a:r>
            <a:endParaRPr lang="en-US" dirty="0"/>
          </a:p>
          <a:p>
            <a:endParaRPr lang="en-US"/>
          </a:p>
          <a:p>
            <a:r>
              <a:rPr lang="en-US" dirty="0">
                <a:hlinkClick r:id="rId9"/>
              </a:rPr>
              <a:t>Time to Patch – Krebs on Security  </a:t>
            </a:r>
            <a:endParaRPr lang="en-US" dirty="0"/>
          </a:p>
          <a:p>
            <a:r>
              <a:rPr lang="en-US" dirty="0">
                <a:cs typeface="Calibri"/>
              </a:rPr>
              <a:t>Maybe look at Winget, </a:t>
            </a:r>
            <a:r>
              <a:rPr lang="en-US" dirty="0" err="1">
                <a:cs typeface="Calibri"/>
              </a:rPr>
              <a:t>AutoUpdate</a:t>
            </a:r>
            <a:r>
              <a:rPr lang="en-US" dirty="0">
                <a:cs typeface="Calibri"/>
              </a:rPr>
              <a:t> Windows, Ansible, </a:t>
            </a:r>
            <a:r>
              <a:rPr lang="en-US" dirty="0" err="1">
                <a:cs typeface="Calibri"/>
              </a:rPr>
              <a:t>Chocolatley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AutoPatch</a:t>
            </a:r>
            <a:r>
              <a:rPr lang="en-US" dirty="0">
                <a:cs typeface="Calibri"/>
              </a:rPr>
              <a:t> via Azure tenant/</a:t>
            </a:r>
            <a:r>
              <a:rPr lang="en-US" dirty="0" err="1">
                <a:cs typeface="Calibri"/>
              </a:rPr>
              <a:t>inTune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10"/>
              </a:rPr>
              <a:t>Vulnerability Summary for the Week of August 15, 2022 | CISA</a:t>
            </a:r>
            <a:endParaRPr lang="en-US" dirty="0">
              <a:cs typeface="Calibri"/>
              <a:hlinkClick r:id="rId10"/>
            </a:endParaRPr>
          </a:p>
          <a:p>
            <a:endParaRPr lang="en-US"/>
          </a:p>
          <a:p>
            <a:r>
              <a:rPr lang="en-US" dirty="0">
                <a:hlinkClick r:id="rId11"/>
              </a:rPr>
              <a:t>Cyber Defence News for Blue &amp; Purple Teams | Ollie | Substack</a:t>
            </a:r>
            <a:endParaRPr lang="en-US" dirty="0">
              <a:cs typeface="Calibri"/>
              <a:hlinkClick r:id="rId11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12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13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14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14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hlinkClick r:id="rId15"/>
              </a:rPr>
              <a:t>Blue-Team-Tools/windows_hardening.cmd at main · WGU-CCDC/Blue-Team-Tools (github.com)</a:t>
            </a:r>
            <a:endParaRPr lang="en-US" dirty="0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5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(19) Detecting Responder via LLMNR Honey Tasks on User Workstations – YouTube</a:t>
            </a:r>
            <a:endParaRPr lang="en-US"/>
          </a:p>
          <a:p>
            <a:endParaRPr lang="en-US"/>
          </a:p>
          <a:p>
            <a:r>
              <a:rPr lang="en-US"/>
              <a:t>https://www.youtube.com/watch?v=h_cWWL-yyb0&amp;t=295s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>
                <a:cs typeface="Calibri"/>
              </a:rPr>
              <a:t>Twitter Defender: </a:t>
            </a:r>
            <a:r>
              <a:rPr lang="en-US">
                <a:hlinkClick r:id="rId4"/>
              </a:rPr>
              <a:t>https://twitter.com/GossiTheDog/status/1578313384298094592?s=20&amp;t=I8HGr3JHIo-7XCneXSZmOQ</a:t>
            </a:r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Me using </a:t>
            </a:r>
            <a:r>
              <a:rPr lang="en-US" err="1">
                <a:cs typeface="Calibri" panose="020F0502020204030204"/>
              </a:rPr>
              <a:t>Impacket</a:t>
            </a:r>
            <a:r>
              <a:rPr lang="en-US">
                <a:cs typeface="Calibri" panose="020F0502020204030204"/>
              </a:rPr>
              <a:t>: </a:t>
            </a:r>
            <a:r>
              <a:rPr lang="en-US">
                <a:hlinkClick r:id="rId5"/>
              </a:rPr>
              <a:t>https://screencast-o-matic.com/watch/c3QIFGVOFmz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>
                <a:cs typeface="Calibri" panose="020F0502020204030204"/>
              </a:rPr>
              <a:t>Hacker Methodology handbook</a:t>
            </a:r>
            <a:endParaRPr lang="en-US"/>
          </a:p>
          <a:p>
            <a:r>
              <a:rPr lang="en-US">
                <a:hlinkClick r:id="rId6"/>
              </a:rPr>
              <a:t>TRÄW🤟 on Twitter: "6. "Hacker Methodology Handbook" by Thomas Bobeck https://t.co/LbFW8LmgOP" / Twitter</a:t>
            </a:r>
            <a:endParaRPr lang="en-US"/>
          </a:p>
          <a:p>
            <a:endParaRPr lang="en-US"/>
          </a:p>
          <a:p>
            <a:r>
              <a:rPr lang="en-US"/>
              <a:t>Twitter API:</a:t>
            </a:r>
            <a:endParaRPr lang="en-US">
              <a:cs typeface="Calibri"/>
            </a:endParaRPr>
          </a:p>
          <a:p>
            <a:r>
              <a:rPr lang="en-US"/>
              <a:t>https://screencast-o-matic.com/watch/c3QFqHVOwRy</a:t>
            </a:r>
            <a:endParaRPr lang="en-US">
              <a:cs typeface="Calibri"/>
            </a:endParaRPr>
          </a:p>
          <a:p>
            <a:endParaRPr lang="en-US"/>
          </a:p>
          <a:p>
            <a:endParaRPr lang="en-US"/>
          </a:p>
          <a:p>
            <a:r>
              <a:rPr lang="en-US"/>
              <a:t>Twitter </a:t>
            </a:r>
            <a:r>
              <a:rPr lang="en-US" err="1"/>
              <a:t>Pentester</a:t>
            </a:r>
            <a:r>
              <a:rPr lang="en-US"/>
              <a:t>/Red Teamer:</a:t>
            </a:r>
            <a:endParaRPr lang="en-US">
              <a:cs typeface="Calibri"/>
            </a:endParaRPr>
          </a:p>
          <a:p>
            <a:r>
              <a:rPr lang="en-US"/>
              <a:t>https://twitter.com/n00py1/status/1577045510036557824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Responder:</a:t>
            </a:r>
            <a:endParaRPr lang="en-US">
              <a:cs typeface="Calibri"/>
            </a:endParaRPr>
          </a:p>
          <a:p>
            <a:r>
              <a:rPr lang="en-US"/>
              <a:t>https://screencast-o-matic.com/watch/cqiveFOp0E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/>
              <a:t>Slack to Responder:</a:t>
            </a:r>
            <a:endParaRPr lang="en-US">
              <a:cs typeface="Calibri"/>
            </a:endParaRPr>
          </a:p>
          <a:p>
            <a:r>
              <a:rPr lang="en-US"/>
              <a:t>https://screencast-o-matic.com/watch/cYfV024AGF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err="1">
                <a:cs typeface="Calibri" panose="020F0502020204030204"/>
              </a:rPr>
              <a:t>TableTop</a:t>
            </a:r>
            <a:r>
              <a:rPr lang="en-US">
                <a:cs typeface="Calibri" panose="020F0502020204030204"/>
              </a:rPr>
              <a:t> Exercise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>
                <a:hlinkClick r:id="rId7"/>
              </a:rPr>
              <a:t>https://bnb.silverday.de/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5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ASSUME EMAIL FILTERS...  </a:t>
            </a:r>
            <a:r>
              <a:rPr lang="en-US" dirty="0" err="1">
                <a:cs typeface="Calibri"/>
              </a:rPr>
              <a:t>ProofPoint</a:t>
            </a:r>
            <a:r>
              <a:rPr lang="en-US" dirty="0">
                <a:cs typeface="Calibri"/>
              </a:rPr>
              <a:t> etc.</a:t>
            </a:r>
          </a:p>
          <a:p>
            <a:r>
              <a:rPr lang="en-US" dirty="0">
                <a:cs typeface="Calibri"/>
              </a:rPr>
              <a:t>Assumes Exchange fixed.</a:t>
            </a:r>
          </a:p>
          <a:p>
            <a:r>
              <a:rPr lang="en-US" dirty="0">
                <a:ea typeface="Calibri"/>
                <a:cs typeface="Calibri"/>
              </a:rPr>
              <a:t>CISA Services:</a:t>
            </a:r>
            <a:endParaRPr lang="en-US" dirty="0">
              <a:cs typeface="Calibri"/>
            </a:endParaRPr>
          </a:p>
          <a:p>
            <a:r>
              <a:rPr lang="en-US" dirty="0">
                <a:hlinkClick r:id="rId3"/>
              </a:rPr>
              <a:t>https://www.cisa.gov/resources-tools/services?page=1</a:t>
            </a:r>
            <a:endParaRPr lang="en-US"/>
          </a:p>
          <a:p>
            <a:endParaRPr lang="en-US" dirty="0"/>
          </a:p>
          <a:p>
            <a:r>
              <a:rPr lang="en-US" dirty="0">
                <a:cs typeface="Calibri"/>
              </a:rPr>
              <a:t>CIS BIA</a:t>
            </a:r>
          </a:p>
          <a:p>
            <a:r>
              <a:rPr lang="en-US" dirty="0">
                <a:hlinkClick r:id="rId4"/>
              </a:rPr>
              <a:t>https://bia.cisecurity.org/</a:t>
            </a:r>
            <a:endParaRPr lang="en-US">
              <a:cs typeface="Calibri"/>
              <a:hlinkClick r:id="rId4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THOR Lite: </a:t>
            </a:r>
            <a:r>
              <a:rPr lang="en-US" dirty="0">
                <a:hlinkClick r:id="rId5"/>
              </a:rPr>
              <a:t>https://www.nextron-systems.com/thor-lite/</a:t>
            </a:r>
            <a:endParaRPr lang="en-US" dirty="0"/>
          </a:p>
          <a:p>
            <a:endParaRPr lang="en-US" dirty="0">
              <a:ea typeface="Calibri" panose="020F0502020204030204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TableTop</a:t>
            </a:r>
            <a:endParaRPr lang="en-US" dirty="0" err="1"/>
          </a:p>
          <a:p>
            <a:r>
              <a:rPr lang="en-US" dirty="0">
                <a:hlinkClick r:id="rId6"/>
              </a:rPr>
              <a:t>https://play.backdoorsandbreaches.com/</a:t>
            </a:r>
            <a:endParaRPr lang="en-US"/>
          </a:p>
          <a:p>
            <a:endParaRPr lang="en-US" dirty="0"/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Controls to use or think about</a:t>
            </a:r>
            <a:endParaRPr lang="en-US" dirty="0"/>
          </a:p>
          <a:p>
            <a:r>
              <a:rPr lang="en-US" dirty="0">
                <a:hlinkClick r:id="rId7"/>
              </a:rPr>
              <a:t>https://atc-project.github.io/react-navigator/</a:t>
            </a:r>
            <a:endParaRPr lang="en-US" dirty="0">
              <a:cs typeface="Calibri"/>
              <a:hlinkClick r:id="rId7"/>
            </a:endParaRPr>
          </a:p>
          <a:p>
            <a:endParaRPr lang="en-US">
              <a:cs typeface="Calibri"/>
            </a:endParaRPr>
          </a:p>
          <a:p>
            <a:r>
              <a:rPr lang="en-US" dirty="0" err="1">
                <a:cs typeface="Calibri"/>
              </a:rPr>
              <a:t>CyberForce</a:t>
            </a:r>
            <a:r>
              <a:rPr lang="en-US" dirty="0">
                <a:cs typeface="Calibri"/>
              </a:rPr>
              <a:t> and logging …. Its tough to see what happens on systems. Need to rely on Win Defender, AMSI for Memory, and EDR and logs to review…</a:t>
            </a:r>
          </a:p>
          <a:p>
            <a:r>
              <a:rPr lang="en-US" dirty="0">
                <a:hlinkClick r:id="rId8"/>
              </a:rPr>
              <a:t>chains/basic_pivot/recap/response.md · main · cfc-redteam-dev / 2022 / general / playbook · GitLab</a:t>
            </a:r>
            <a:endParaRPr lang="en-US" dirty="0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Ansible for Windows Updates for Servers.</a:t>
            </a:r>
            <a:endParaRPr lang="en-US" dirty="0"/>
          </a:p>
          <a:p>
            <a:r>
              <a:rPr lang="en-US" dirty="0">
                <a:hlinkClick r:id="rId9"/>
              </a:rPr>
              <a:t>https://grizzly-dibble-cdb.notion.site/Ansible-WindowsUpdate4Servers-71dfb596b0ca4c3c8edae5eb05451d6b</a:t>
            </a:r>
            <a:endParaRPr lang="en-US" dirty="0">
              <a:cs typeface="Calibri"/>
              <a:hlinkClick r:id="rId9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@_wald0 azure </a:t>
            </a:r>
            <a:r>
              <a:rPr lang="en-US" dirty="0" err="1">
                <a:ea typeface="Calibri"/>
                <a:cs typeface="Calibri"/>
              </a:rPr>
              <a:t>github</a:t>
            </a:r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>
                <a:hlinkClick r:id="rId10"/>
              </a:rPr>
              <a:t>End-of-Support Software Report List (cisecurity.org)</a:t>
            </a:r>
            <a:endParaRPr lang="en-US" dirty="0"/>
          </a:p>
          <a:p>
            <a:endParaRPr lang="en-US"/>
          </a:p>
          <a:p>
            <a:r>
              <a:rPr lang="en-US" dirty="0">
                <a:hlinkClick r:id="rId11"/>
              </a:rPr>
              <a:t>Time to Patch – Krebs on Security  </a:t>
            </a:r>
            <a:endParaRPr lang="en-US" dirty="0"/>
          </a:p>
          <a:p>
            <a:r>
              <a:rPr lang="en-US" dirty="0">
                <a:cs typeface="Calibri"/>
              </a:rPr>
              <a:t>Maybe look at Winget, </a:t>
            </a:r>
            <a:r>
              <a:rPr lang="en-US" dirty="0" err="1">
                <a:cs typeface="Calibri"/>
              </a:rPr>
              <a:t>AutoUpdate</a:t>
            </a:r>
            <a:r>
              <a:rPr lang="en-US" dirty="0">
                <a:cs typeface="Calibri"/>
              </a:rPr>
              <a:t> Windows, Ansible, </a:t>
            </a:r>
            <a:r>
              <a:rPr lang="en-US" dirty="0" err="1">
                <a:cs typeface="Calibri"/>
              </a:rPr>
              <a:t>Chocolatley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AutoPatch</a:t>
            </a:r>
            <a:r>
              <a:rPr lang="en-US" dirty="0">
                <a:cs typeface="Calibri"/>
              </a:rPr>
              <a:t> via Azure tenant/</a:t>
            </a:r>
            <a:r>
              <a:rPr lang="en-US" dirty="0" err="1">
                <a:cs typeface="Calibri"/>
              </a:rPr>
              <a:t>inTune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12"/>
              </a:rPr>
              <a:t>Vulnerability Summary for the Week of August 15, 2022 | CISA</a:t>
            </a:r>
            <a:endParaRPr lang="en-US" dirty="0">
              <a:cs typeface="Calibri"/>
              <a:hlinkClick r:id="rId12"/>
            </a:endParaRPr>
          </a:p>
          <a:p>
            <a:endParaRPr lang="en-US"/>
          </a:p>
          <a:p>
            <a:r>
              <a:rPr lang="en-US" dirty="0">
                <a:hlinkClick r:id="rId13"/>
              </a:rPr>
              <a:t>Cyber Defence News for Blue &amp; Purple Teams | Ollie | Substack</a:t>
            </a:r>
            <a:endParaRPr lang="en-US" dirty="0">
              <a:cs typeface="Calibri"/>
              <a:hlinkClick r:id="rId13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14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15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 dirty="0">
                <a:hlinkClick r:id="rId16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16"/>
            </a:endParaRPr>
          </a:p>
          <a:p>
            <a:endParaRPr lang="en-US">
              <a:cs typeface="Calibri"/>
            </a:endParaRPr>
          </a:p>
          <a:p>
            <a:r>
              <a:rPr lang="en-US" dirty="0">
                <a:hlinkClick r:id="rId17"/>
              </a:rPr>
              <a:t>Blue-Team-Tools/windows_hardening.cmd at main · WGU-CCDC/Blue-Team-Tools (github.com)</a:t>
            </a:r>
            <a:endParaRPr lang="en-US" dirty="0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9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AI and </a:t>
            </a:r>
            <a:r>
              <a:rPr lang="en-US" dirty="0" err="1">
                <a:cs typeface="Calibri"/>
              </a:rPr>
              <a:t>ChatGPT</a:t>
            </a:r>
            <a:r>
              <a:rPr lang="en-US" dirty="0">
                <a:cs typeface="Calibri"/>
              </a:rPr>
              <a:t>... How adversaries are creating Malware and other things much faster.</a:t>
            </a:r>
          </a:p>
          <a:p>
            <a:r>
              <a:rPr lang="en-US" dirty="0">
                <a:cs typeface="Calibri"/>
              </a:rPr>
              <a:t>Low- code </a:t>
            </a:r>
            <a:r>
              <a:rPr lang="en-US" dirty="0" err="1">
                <a:cs typeface="Calibri"/>
              </a:rPr>
              <a:t>pwn</a:t>
            </a:r>
            <a:r>
              <a:rPr lang="en-US" dirty="0">
                <a:cs typeface="Calibri"/>
              </a:rPr>
              <a:t>-code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Sooner or later it should be consider neglect of due diligence and of due care.... if you are not hiring a </a:t>
            </a:r>
            <a:r>
              <a:rPr lang="en-US" dirty="0" err="1">
                <a:cs typeface="Calibri"/>
              </a:rPr>
              <a:t>pentester</a:t>
            </a:r>
            <a:r>
              <a:rPr lang="en-US" dirty="0">
                <a:cs typeface="Calibri"/>
              </a:rPr>
              <a:t> to ensure security.</a:t>
            </a: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Policies--&gt; </a:t>
            </a:r>
            <a:r>
              <a:rPr lang="en-US" dirty="0">
                <a:hlinkClick r:id="rId3"/>
              </a:rPr>
              <a:t>https://www.cisecurity.org/controls/v8</a:t>
            </a:r>
            <a:endParaRPr lang="en-US" dirty="0"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Backdoors &amp; Breaches</a:t>
            </a:r>
            <a:endParaRPr lang="en-US" dirty="0"/>
          </a:p>
          <a:p>
            <a:r>
              <a:rPr lang="en-US"/>
              <a:t>https://www.cisa.gov/resources-tools/services?page=1</a:t>
            </a:r>
          </a:p>
          <a:p>
            <a:endParaRPr lang="en-US"/>
          </a:p>
          <a:p>
            <a:r>
              <a:rPr lang="en-US" dirty="0"/>
              <a:t>MSFT AD Assessment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hlinkClick r:id="rId4"/>
              </a:rPr>
              <a:t>https://learn.microsoft.com/en-us/services-hub/unified/health/getting-started-adsecurity</a:t>
            </a:r>
            <a:endParaRPr lang="en-US" dirty="0"/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Trimarc</a:t>
            </a:r>
            <a:endParaRPr lang="en-US">
              <a:cs typeface="Calibri"/>
            </a:endParaRPr>
          </a:p>
          <a:p>
            <a:r>
              <a:rPr lang="en-US" dirty="0">
                <a:hlinkClick r:id="rId5"/>
              </a:rPr>
              <a:t>https://www.hub.trimarcsecurity.com/post/securing-active-directory-performing-an-active-directory-security-review</a:t>
            </a:r>
            <a:endParaRPr lang="en-US" dirty="0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 err="1">
                <a:cs typeface="Calibri"/>
              </a:rPr>
              <a:t>SpecterOps</a:t>
            </a:r>
            <a:endParaRPr lang="en-US" err="1"/>
          </a:p>
          <a:p>
            <a:r>
              <a:rPr lang="en-US" dirty="0">
                <a:hlinkClick r:id="rId6"/>
              </a:rPr>
              <a:t>https://posts.specterops.io/attacking-azure-azure-ad-and-introducing-powerzure-ca70b330511a</a:t>
            </a:r>
            <a:endParaRPr lang="en-US" dirty="0">
              <a:cs typeface="Calibri"/>
              <a:hlinkClick r:id="rId6"/>
            </a:endParaRPr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Semperis</a:t>
            </a:r>
            <a:endParaRPr lang="en-US" err="1"/>
          </a:p>
          <a:p>
            <a:r>
              <a:rPr lang="en-US" dirty="0">
                <a:hlinkClick r:id="rId7"/>
              </a:rPr>
              <a:t>https://www.semperis.com/solutions/uncover-active-directory-attack-paths/</a:t>
            </a:r>
            <a:endParaRPr lang="en-US" dirty="0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 err="1">
                <a:cs typeface="Calibri"/>
              </a:rPr>
              <a:t>BlackHIllsInfosec</a:t>
            </a:r>
            <a:endParaRPr lang="en-US">
              <a:cs typeface="Calibri"/>
            </a:endParaRPr>
          </a:p>
          <a:p>
            <a:r>
              <a:rPr lang="en-US" dirty="0">
                <a:hlinkClick r:id="rId8"/>
              </a:rPr>
              <a:t>https://www.blackhillsinfosec.com/tag/active-directory/</a:t>
            </a:r>
            <a:endParaRPr lang="en-US" dirty="0">
              <a:cs typeface="Calibri"/>
              <a:hlinkClick r:id="rId8"/>
            </a:endParaRPr>
          </a:p>
          <a:p>
            <a:endParaRPr lang="en-US">
              <a:cs typeface="Calibri"/>
            </a:endParaRPr>
          </a:p>
          <a:p>
            <a:r>
              <a:rPr lang="en-US" dirty="0" err="1">
                <a:cs typeface="Calibri"/>
              </a:rPr>
              <a:t>PingCastle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PurpleKnight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BloodHound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GoodHound</a:t>
            </a:r>
            <a:endParaRPr lang="en-US" dirty="0">
              <a:cs typeface="Calibri"/>
            </a:endParaRPr>
          </a:p>
          <a:p>
            <a:endParaRPr lang="en-US"/>
          </a:p>
          <a:p>
            <a:r>
              <a:rPr lang="en-US" dirty="0">
                <a:cs typeface="Calibri"/>
              </a:rPr>
              <a:t>CISA </a:t>
            </a:r>
          </a:p>
          <a:p>
            <a:r>
              <a:rPr lang="en-US" dirty="0">
                <a:hlinkClick r:id="rId9"/>
              </a:rPr>
              <a:t>https://csrc.nist.gov/projects/ransomware-protection-and-response</a:t>
            </a:r>
            <a:endParaRPr lang="en-US" dirty="0"/>
          </a:p>
          <a:p>
            <a:r>
              <a:rPr lang="en-US" dirty="0">
                <a:cs typeface="Calibri"/>
              </a:rPr>
              <a:t>Take assessment: </a:t>
            </a:r>
            <a:r>
              <a:rPr lang="en-US" dirty="0">
                <a:hlinkClick r:id="rId10"/>
              </a:rPr>
              <a:t>https://github.com/cisagov/cset/releases/tag/v10.3.0.0</a:t>
            </a:r>
            <a:endParaRPr lang="en-US" dirty="0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72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Tips and Tactics: Ransomware (nist.gov)</a:t>
            </a:r>
            <a:endParaRPr lang="en-US"/>
          </a:p>
          <a:p>
            <a:r>
              <a:rPr lang="en-US" u="sng">
                <a:hlinkClick r:id="rId4"/>
              </a:rPr>
              <a:t>Release Ransomware Readiness Assessment CSET v10.3 · </a:t>
            </a:r>
            <a:r>
              <a:rPr lang="en-US" u="sng" err="1">
                <a:hlinkClick r:id="rId4"/>
              </a:rPr>
              <a:t>cisagov</a:t>
            </a:r>
            <a:r>
              <a:rPr lang="en-US" u="sng">
                <a:hlinkClick r:id="rId4"/>
              </a:rPr>
              <a:t>/</a:t>
            </a:r>
            <a:r>
              <a:rPr lang="en-US" u="sng" err="1">
                <a:hlinkClick r:id="rId4"/>
              </a:rPr>
              <a:t>cset</a:t>
            </a:r>
            <a:r>
              <a:rPr lang="en-US" u="sng">
                <a:hlinkClick r:id="rId4"/>
              </a:rPr>
              <a:t> (github.com)</a:t>
            </a:r>
            <a:endParaRPr lang="en-US"/>
          </a:p>
          <a:p>
            <a:r>
              <a:rPr lang="en-US"/>
              <a:t>CIS CSAT Ransomware Business Impact Analysis tool: </a:t>
            </a:r>
            <a:r>
              <a:rPr lang="en-US">
                <a:hlinkClick r:id="rId5"/>
              </a:rPr>
              <a:t>https://bia.cisecurity.org/?next=/dashboard/</a:t>
            </a:r>
            <a:endParaRPr lang="en-US">
              <a:cs typeface="Calibri"/>
              <a:hlinkClick r:id="rId5"/>
            </a:endParaRPr>
          </a:p>
          <a:p>
            <a:endParaRPr lang="en-US"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https://home.treasury.gov/system/files/126/ofac_ransomware_advisory_10012020_1.pdf</a:t>
            </a:r>
          </a:p>
          <a:p>
            <a:r>
              <a:rPr lang="en-US">
                <a:ea typeface="Calibri" panose="020F0502020204030204"/>
                <a:cs typeface="Calibri"/>
              </a:rPr>
              <a:t>https://iclg.com/practice-areas/sanctions/usa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2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3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6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5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6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3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72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2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88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89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8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8217F4-0F09-5846-AD19-A6CE08BF3AF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9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essefmoo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lev.com/jessefmoore821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ciso.uw.edu/education/outreach/workshops/#badthings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llev.com/jessefmoore821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hyperlink" Target="https://pollev.com/jessefmoore821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tajdini.net/blog/penetration/active-directory-penetration-mind-map/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WSBloodHound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dfirreport.com/" TargetMode="External"/><Relationship Id="rId5" Type="http://schemas.openxmlformats.org/officeDocument/2006/relationships/hyperlink" Target="https://www.cisa.gov/uscert/ncas/alerts/aa22-249a" TargetMode="External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xlsProj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witter.com/jessefmoore" TargetMode="Externa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hyperlink" Target="https://www.nextron-systems.com/thor-lit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backdoorsandbreaches.com/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inyurl.com/EarlyDetections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tinyurl.com/WSBloodHoun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xtron-systems.com/thor-lite/" TargetMode="External"/><Relationship Id="rId11" Type="http://schemas.openxmlformats.org/officeDocument/2006/relationships/hyperlink" Target="https://www.blackhillsinfosec.com/prompt-zine/" TargetMode="External"/><Relationship Id="rId5" Type="http://schemas.openxmlformats.org/officeDocument/2006/relationships/hyperlink" Target="https://bia.cisecurity.org" TargetMode="External"/><Relationship Id="rId10" Type="http://schemas.openxmlformats.org/officeDocument/2006/relationships/image" Target="../media/image43.jpeg"/><Relationship Id="rId4" Type="http://schemas.openxmlformats.org/officeDocument/2006/relationships/hyperlink" Target="https://tinyurl.com/xlsProj" TargetMode="External"/><Relationship Id="rId9" Type="http://schemas.openxmlformats.org/officeDocument/2006/relationships/hyperlink" Target="https://play.backdoorsandbreaches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A746-C3E6-534F-98DC-C80B7D9CD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864" y="2099733"/>
            <a:ext cx="7209903" cy="15834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ea typeface="+mj-lt"/>
                <a:cs typeface="+mj-lt"/>
              </a:rPr>
              <a:t>Defense in Depth for Operations!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98455A0-A4FB-BB68-C636-39A5EECFE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202578" cy="861420"/>
          </a:xfrm>
        </p:spPr>
        <p:txBody>
          <a:bodyPr>
            <a:normAutofit/>
          </a:bodyPr>
          <a:lstStyle/>
          <a:p>
            <a:r>
              <a:rPr lang="en-US"/>
              <a:t>...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B75AD243-F529-796B-3B59-289125FDB9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44" b="7575"/>
          <a:stretch/>
        </p:blipFill>
        <p:spPr>
          <a:xfrm rot="5400000">
            <a:off x="6922217" y="1587735"/>
            <a:ext cx="5909207" cy="3677632"/>
          </a:xfrm>
          <a:prstGeom prst="rect">
            <a:avLst/>
          </a:prstGeom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56FB35D-9507-4E18-883E-A61D9FDE2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AE28B-0B1E-D327-8B9A-52573EE868E2}"/>
              </a:ext>
            </a:extLst>
          </p:cNvPr>
          <p:cNvSpPr txBox="1"/>
          <p:nvPr/>
        </p:nvSpPr>
        <p:spPr>
          <a:xfrm>
            <a:off x="816864" y="5913120"/>
            <a:ext cx="48947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Source picture: Black Hills Info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96250-7771-7B08-A649-253D2EF018BF}"/>
              </a:ext>
            </a:extLst>
          </p:cNvPr>
          <p:cNvSpPr txBox="1"/>
          <p:nvPr/>
        </p:nvSpPr>
        <p:spPr>
          <a:xfrm>
            <a:off x="1001345" y="4103077"/>
            <a:ext cx="64232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So much to say... limit this to a few approaches based on my view of budget and impact.</a:t>
            </a:r>
          </a:p>
        </p:txBody>
      </p:sp>
    </p:spTree>
    <p:extLst>
      <p:ext uri="{BB962C8B-B14F-4D97-AF65-F5344CB8AC3E}">
        <p14:creationId xmlns:p14="http://schemas.microsoft.com/office/powerpoint/2010/main" val="9990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E5AA-D963-E706-1AEE-3D5127C0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C1E47-1664-67AB-0CC8-B55D10EC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Following presentation contains my thoughts, ideas and </a:t>
            </a:r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opinions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. They do not represent those of my current or past employers.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Any events, characters and company depicted in the course of this presentation are purely fictitious. Any similarity to actual events, characters and company is </a:t>
            </a:r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merely coincidental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. &lt;-Like South Park!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Do not 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use these tactics/techniques presented for evil.</a:t>
            </a:r>
          </a:p>
        </p:txBody>
      </p:sp>
    </p:spTree>
    <p:extLst>
      <p:ext uri="{BB962C8B-B14F-4D97-AF65-F5344CB8AC3E}">
        <p14:creationId xmlns:p14="http://schemas.microsoft.com/office/powerpoint/2010/main" val="245652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A9351-151C-4D96-A47C-808D6ADF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9046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Who is this?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F1DDF-4185-4057-B25F-459EEDA520E4}"/>
              </a:ext>
            </a:extLst>
          </p:cNvPr>
          <p:cNvSpPr txBox="1"/>
          <p:nvPr/>
        </p:nvSpPr>
        <p:spPr>
          <a:xfrm>
            <a:off x="640214" y="4378084"/>
            <a:ext cx="52420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i="1">
                <a:ea typeface="+mn-lt"/>
                <a:cs typeface="+mn-lt"/>
              </a:rPr>
              <a:t>Education:</a:t>
            </a:r>
            <a:endParaRPr lang="en-US">
              <a:ea typeface="+mn-lt"/>
              <a:cs typeface="+mn-lt"/>
            </a:endParaRPr>
          </a:p>
          <a:p>
            <a:pPr marL="1257300" lvl="2" indent="-34290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Master of Science, Cybersecurity &amp; Info Assurance</a:t>
            </a:r>
          </a:p>
          <a:p>
            <a:pPr marL="1257300" lvl="2" indent="-34290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50+ Industry Certifications</a:t>
            </a:r>
            <a:endParaRPr 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26AE6B-96AD-42B2-ACF0-820CA76F24FF}"/>
              </a:ext>
            </a:extLst>
          </p:cNvPr>
          <p:cNvSpPr txBox="1">
            <a:spLocks/>
          </p:cNvSpPr>
          <p:nvPr/>
        </p:nvSpPr>
        <p:spPr>
          <a:xfrm>
            <a:off x="553186" y="5746905"/>
            <a:ext cx="8197114" cy="746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>
                <a:hlinkClick r:id="rId3"/>
              </a:rPr>
              <a:t>https://www.linkedin.com/in/jessefmoore/</a:t>
            </a:r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</p:txBody>
      </p:sp>
      <p:pic>
        <p:nvPicPr>
          <p:cNvPr id="4" name="Picture 4" descr="A dog on a boat&#10;&#10;Description automatically generated">
            <a:extLst>
              <a:ext uri="{FF2B5EF4-FFF2-40B4-BE49-F238E27FC236}">
                <a16:creationId xmlns:a16="http://schemas.microsoft.com/office/drawing/2014/main" id="{BF3B8314-02DD-49C9-B1EE-9FEE9B0BC8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16" b="9816"/>
          <a:stretch/>
        </p:blipFill>
        <p:spPr>
          <a:xfrm>
            <a:off x="6774511" y="480060"/>
            <a:ext cx="4929808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B55ACB-782B-0335-BF5C-C2188C158706}"/>
              </a:ext>
            </a:extLst>
          </p:cNvPr>
          <p:cNvSpPr txBox="1"/>
          <p:nvPr/>
        </p:nvSpPr>
        <p:spPr>
          <a:xfrm>
            <a:off x="1273969" y="2664024"/>
            <a:ext cx="5229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2" indent="-285750">
              <a:buFont typeface="Arial,Sans-Serif"/>
              <a:buChar char="•"/>
            </a:pPr>
            <a:r>
              <a:rPr lang="en-US"/>
              <a:t>SIEM-As-A-Service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C0756-138E-A460-B6D0-12AD7A65AF01}"/>
              </a:ext>
            </a:extLst>
          </p:cNvPr>
          <p:cNvSpPr txBox="1"/>
          <p:nvPr/>
        </p:nvSpPr>
        <p:spPr>
          <a:xfrm>
            <a:off x="1270991" y="2985491"/>
            <a:ext cx="52476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2" indent="-285750">
              <a:buFont typeface="Arial,Sans-Serif"/>
              <a:buChar char="•"/>
            </a:pPr>
            <a:r>
              <a:rPr lang="en-US"/>
              <a:t>Vulnerability-As-A-Service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E650F-118C-86BF-6E08-B25D0736C51C}"/>
              </a:ext>
            </a:extLst>
          </p:cNvPr>
          <p:cNvSpPr txBox="1"/>
          <p:nvPr/>
        </p:nvSpPr>
        <p:spPr>
          <a:xfrm>
            <a:off x="1282897" y="3357562"/>
            <a:ext cx="52179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2" indent="-285750">
              <a:buFont typeface="Arial,Sans-Serif"/>
              <a:buChar char="•"/>
            </a:pPr>
            <a:r>
              <a:rPr lang="en-US"/>
              <a:t>Pentest, Forensics, Incident Response, Risk</a:t>
            </a:r>
          </a:p>
          <a:p>
            <a:pPr marL="1257300" lvl="2" indent="-285750">
              <a:buFont typeface="Arial,Sans-Serif"/>
              <a:buChar char="•"/>
            </a:pPr>
            <a:endParaRPr lang="en-US"/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97092-EBAA-EFAE-93F0-2CD6CE6FA159}"/>
              </a:ext>
            </a:extLst>
          </p:cNvPr>
          <p:cNvSpPr txBox="1"/>
          <p:nvPr/>
        </p:nvSpPr>
        <p:spPr>
          <a:xfrm>
            <a:off x="2262187" y="3955851"/>
            <a:ext cx="40034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Admin at Nintendo for 10 years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99B1D0-E0A6-52C3-C24F-E88A8B2A25AC}"/>
              </a:ext>
            </a:extLst>
          </p:cNvPr>
          <p:cNvSpPr txBox="1"/>
          <p:nvPr/>
        </p:nvSpPr>
        <p:spPr>
          <a:xfrm>
            <a:off x="1823871" y="1602706"/>
            <a:ext cx="52865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Currently- Pet parent! And Risk Advisor that serves on the Leadership team at UWB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E4155-EFC4-1444-D396-03E097F6A0F9}"/>
              </a:ext>
            </a:extLst>
          </p:cNvPr>
          <p:cNvSpPr txBox="1"/>
          <p:nvPr/>
        </p:nvSpPr>
        <p:spPr>
          <a:xfrm>
            <a:off x="1821725" y="2389072"/>
            <a:ext cx="37207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Past stuff:</a:t>
            </a:r>
          </a:p>
        </p:txBody>
      </p:sp>
      <p:pic>
        <p:nvPicPr>
          <p:cNvPr id="8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66CAFC8-87E8-A1B8-87E4-BBC94D842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129" y="4140420"/>
            <a:ext cx="3639670" cy="2207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FCC0A4-B31C-7CF8-AA73-FFFB918DCDB6}"/>
              </a:ext>
            </a:extLst>
          </p:cNvPr>
          <p:cNvSpPr txBox="1"/>
          <p:nvPr/>
        </p:nvSpPr>
        <p:spPr>
          <a:xfrm>
            <a:off x="8871856" y="3528785"/>
            <a:ext cx="24583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  <a:hlinkClick r:id="rId6"/>
              </a:rPr>
              <a:t>https://pollev.com/jessefmoore821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36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3" grpId="0"/>
      <p:bldP spid="7" grpId="0"/>
      <p:bldP spid="10" grpId="0"/>
      <p:bldP spid="12" grpId="0"/>
      <p:bldP spid="20" grpId="0"/>
      <p:bldP spid="2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D40B773-7B09-4CA5-ACEF-6D8094970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680A730-D307-4619-A089-699C8994C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00913" y="588083"/>
            <a:ext cx="6053670" cy="5681834"/>
          </a:xfrm>
          <a:custGeom>
            <a:avLst/>
            <a:gdLst>
              <a:gd name="connsiteX0" fmla="*/ 6053670 w 6053670"/>
              <a:gd name="connsiteY0" fmla="*/ 1098 h 5681834"/>
              <a:gd name="connsiteX1" fmla="*/ 6053670 w 6053670"/>
              <a:gd name="connsiteY1" fmla="*/ 1012899 h 5681834"/>
              <a:gd name="connsiteX2" fmla="*/ 6053670 w 6053670"/>
              <a:gd name="connsiteY2" fmla="*/ 1254558 h 5681834"/>
              <a:gd name="connsiteX3" fmla="*/ 6053670 w 6053670"/>
              <a:gd name="connsiteY3" fmla="*/ 5681834 h 5681834"/>
              <a:gd name="connsiteX4" fmla="*/ 0 w 6053670"/>
              <a:gd name="connsiteY4" fmla="*/ 5681834 h 5681834"/>
              <a:gd name="connsiteX5" fmla="*/ 0 w 6053670"/>
              <a:gd name="connsiteY5" fmla="*/ 1249853 h 5681834"/>
              <a:gd name="connsiteX6" fmla="*/ 0 w 6053670"/>
              <a:gd name="connsiteY6" fmla="*/ 1012899 h 5681834"/>
              <a:gd name="connsiteX7" fmla="*/ 0 w 6053670"/>
              <a:gd name="connsiteY7" fmla="*/ 0 h 5681834"/>
              <a:gd name="connsiteX8" fmla="*/ 35717 w 6053670"/>
              <a:gd name="connsiteY8" fmla="*/ 5488 h 5681834"/>
              <a:gd name="connsiteX9" fmla="*/ 140445 w 6053670"/>
              <a:gd name="connsiteY9" fmla="*/ 21641 h 5681834"/>
              <a:gd name="connsiteX10" fmla="*/ 216722 w 6053670"/>
              <a:gd name="connsiteY10" fmla="*/ 32932 h 5681834"/>
              <a:gd name="connsiteX11" fmla="*/ 307527 w 6053670"/>
              <a:gd name="connsiteY11" fmla="*/ 44850 h 5681834"/>
              <a:gd name="connsiteX12" fmla="*/ 415282 w 6053670"/>
              <a:gd name="connsiteY12" fmla="*/ 59121 h 5681834"/>
              <a:gd name="connsiteX13" fmla="*/ 534539 w 6053670"/>
              <a:gd name="connsiteY13" fmla="*/ 74175 h 5681834"/>
              <a:gd name="connsiteX14" fmla="*/ 668931 w 6053670"/>
              <a:gd name="connsiteY14" fmla="*/ 90014 h 5681834"/>
              <a:gd name="connsiteX15" fmla="*/ 815430 w 6053670"/>
              <a:gd name="connsiteY15" fmla="*/ 106794 h 5681834"/>
              <a:gd name="connsiteX16" fmla="*/ 974641 w 6053670"/>
              <a:gd name="connsiteY16" fmla="*/ 123574 h 5681834"/>
              <a:gd name="connsiteX17" fmla="*/ 1144144 w 6053670"/>
              <a:gd name="connsiteY17" fmla="*/ 140667 h 5681834"/>
              <a:gd name="connsiteX18" fmla="*/ 1326965 w 6053670"/>
              <a:gd name="connsiteY18" fmla="*/ 156506 h 5681834"/>
              <a:gd name="connsiteX19" fmla="*/ 1518261 w 6053670"/>
              <a:gd name="connsiteY19" fmla="*/ 171717 h 5681834"/>
              <a:gd name="connsiteX20" fmla="*/ 1720453 w 6053670"/>
              <a:gd name="connsiteY20" fmla="*/ 185518 h 5681834"/>
              <a:gd name="connsiteX21" fmla="*/ 1931121 w 6053670"/>
              <a:gd name="connsiteY21" fmla="*/ 198690 h 5681834"/>
              <a:gd name="connsiteX22" fmla="*/ 2150869 w 6053670"/>
              <a:gd name="connsiteY22" fmla="*/ 211079 h 5681834"/>
              <a:gd name="connsiteX23" fmla="*/ 2263467 w 6053670"/>
              <a:gd name="connsiteY23" fmla="*/ 215470 h 5681834"/>
              <a:gd name="connsiteX24" fmla="*/ 2378487 w 6053670"/>
              <a:gd name="connsiteY24" fmla="*/ 220332 h 5681834"/>
              <a:gd name="connsiteX25" fmla="*/ 2495323 w 6053670"/>
              <a:gd name="connsiteY25" fmla="*/ 224879 h 5681834"/>
              <a:gd name="connsiteX26" fmla="*/ 2612764 w 6053670"/>
              <a:gd name="connsiteY26" fmla="*/ 227859 h 5681834"/>
              <a:gd name="connsiteX27" fmla="*/ 2732627 w 6053670"/>
              <a:gd name="connsiteY27" fmla="*/ 230525 h 5681834"/>
              <a:gd name="connsiteX28" fmla="*/ 2853700 w 6053670"/>
              <a:gd name="connsiteY28" fmla="*/ 233348 h 5681834"/>
              <a:gd name="connsiteX29" fmla="*/ 2977195 w 6053670"/>
              <a:gd name="connsiteY29" fmla="*/ 235229 h 5681834"/>
              <a:gd name="connsiteX30" fmla="*/ 3101901 w 6053670"/>
              <a:gd name="connsiteY30" fmla="*/ 235229 h 5681834"/>
              <a:gd name="connsiteX31" fmla="*/ 3227817 w 6053670"/>
              <a:gd name="connsiteY31" fmla="*/ 236170 h 5681834"/>
              <a:gd name="connsiteX32" fmla="*/ 3354944 w 6053670"/>
              <a:gd name="connsiteY32" fmla="*/ 235229 h 5681834"/>
              <a:gd name="connsiteX33" fmla="*/ 3483887 w 6053670"/>
              <a:gd name="connsiteY33" fmla="*/ 233348 h 5681834"/>
              <a:gd name="connsiteX34" fmla="*/ 3612830 w 6053670"/>
              <a:gd name="connsiteY34" fmla="*/ 231623 h 5681834"/>
              <a:gd name="connsiteX35" fmla="*/ 3743590 w 6053670"/>
              <a:gd name="connsiteY35" fmla="*/ 227859 h 5681834"/>
              <a:gd name="connsiteX36" fmla="*/ 3875560 w 6053670"/>
              <a:gd name="connsiteY36" fmla="*/ 223938 h 5681834"/>
              <a:gd name="connsiteX37" fmla="*/ 4007530 w 6053670"/>
              <a:gd name="connsiteY37" fmla="*/ 219391 h 5681834"/>
              <a:gd name="connsiteX38" fmla="*/ 4140710 w 6053670"/>
              <a:gd name="connsiteY38" fmla="*/ 212961 h 5681834"/>
              <a:gd name="connsiteX39" fmla="*/ 4275102 w 6053670"/>
              <a:gd name="connsiteY39" fmla="*/ 205277 h 5681834"/>
              <a:gd name="connsiteX40" fmla="*/ 4410098 w 6053670"/>
              <a:gd name="connsiteY40" fmla="*/ 197907 h 5681834"/>
              <a:gd name="connsiteX41" fmla="*/ 4545096 w 6053670"/>
              <a:gd name="connsiteY41" fmla="*/ 188498 h 5681834"/>
              <a:gd name="connsiteX42" fmla="*/ 4681909 w 6053670"/>
              <a:gd name="connsiteY42" fmla="*/ 177207 h 5681834"/>
              <a:gd name="connsiteX43" fmla="*/ 4816905 w 6053670"/>
              <a:gd name="connsiteY43" fmla="*/ 165916 h 5681834"/>
              <a:gd name="connsiteX44" fmla="*/ 4954323 w 6053670"/>
              <a:gd name="connsiteY44" fmla="*/ 152899 h 5681834"/>
              <a:gd name="connsiteX45" fmla="*/ 5092347 w 6053670"/>
              <a:gd name="connsiteY45" fmla="*/ 138629 h 5681834"/>
              <a:gd name="connsiteX46" fmla="*/ 5228555 w 6053670"/>
              <a:gd name="connsiteY46" fmla="*/ 123574 h 5681834"/>
              <a:gd name="connsiteX47" fmla="*/ 5366578 w 6053670"/>
              <a:gd name="connsiteY47" fmla="*/ 106010 h 5681834"/>
              <a:gd name="connsiteX48" fmla="*/ 5503997 w 6053670"/>
              <a:gd name="connsiteY48" fmla="*/ 87192 h 5681834"/>
              <a:gd name="connsiteX49" fmla="*/ 5642020 w 6053670"/>
              <a:gd name="connsiteY49" fmla="*/ 68530 h 5681834"/>
              <a:gd name="connsiteX50" fmla="*/ 5779438 w 6053670"/>
              <a:gd name="connsiteY50" fmla="*/ 46733 h 5681834"/>
              <a:gd name="connsiteX51" fmla="*/ 5916251 w 6053670"/>
              <a:gd name="connsiteY51" fmla="*/ 24464 h 568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681834">
                <a:moveTo>
                  <a:pt x="6053670" y="1098"/>
                </a:moveTo>
                <a:lnTo>
                  <a:pt x="6053670" y="1012899"/>
                </a:lnTo>
                <a:lnTo>
                  <a:pt x="6053670" y="1254558"/>
                </a:lnTo>
                <a:lnTo>
                  <a:pt x="6053670" y="5681834"/>
                </a:lnTo>
                <a:lnTo>
                  <a:pt x="0" y="5681834"/>
                </a:lnTo>
                <a:lnTo>
                  <a:pt x="0" y="1249853"/>
                </a:lnTo>
                <a:lnTo>
                  <a:pt x="0" y="101289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9768AB41-1F45-4D7D-8E9F-F32F00C12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22CC7380-78F8-4871-A3DB-C4F04F396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598383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1D80B-4712-F143-B590-5FC825E3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373877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has Jesse Been up to?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FA2E53-B132-494A-BD39-D0FF6158E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CE946-0280-0746-85E1-BDFC32FF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373877" cy="79276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C27DC-6126-4F60-8F40-73179A5F03AB}"/>
              </a:ext>
            </a:extLst>
          </p:cNvPr>
          <p:cNvSpPr txBox="1"/>
          <p:nvPr/>
        </p:nvSpPr>
        <p:spPr>
          <a:xfrm>
            <a:off x="479204" y="3092749"/>
            <a:ext cx="6442003" cy="723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I’ve been working on </a:t>
            </a:r>
            <a:r>
              <a:rPr lang="en-US" i="1"/>
              <a:t>building </a:t>
            </a:r>
            <a:r>
              <a:rPr lang="en-US" i="1" err="1"/>
              <a:t>CyberForce</a:t>
            </a:r>
            <a:r>
              <a:rPr lang="en-US" i="1"/>
              <a:t> Comp</a:t>
            </a:r>
            <a:r>
              <a:rPr lang="en-US"/>
              <a:t>.</a:t>
            </a:r>
          </a:p>
          <a:p>
            <a:pPr>
              <a:spcAft>
                <a:spcPts val="600"/>
              </a:spcAft>
            </a:pPr>
            <a:r>
              <a:rPr lang="en-US"/>
              <a:t>https://</a:t>
            </a:r>
            <a:r>
              <a:rPr lang="en-US" err="1"/>
              <a:t>tinyurl.com</a:t>
            </a:r>
            <a:r>
              <a:rPr lang="en-US"/>
              <a:t>/</a:t>
            </a:r>
            <a:r>
              <a:rPr lang="en-US" err="1"/>
              <a:t>cybforce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32E76-C124-4255-A57A-EB71156F5099}"/>
              </a:ext>
            </a:extLst>
          </p:cNvPr>
          <p:cNvSpPr txBox="1"/>
          <p:nvPr/>
        </p:nvSpPr>
        <p:spPr>
          <a:xfrm>
            <a:off x="479205" y="4016892"/>
            <a:ext cx="5665254" cy="723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REN-ISAC </a:t>
            </a:r>
            <a:r>
              <a:rPr lang="en-US" err="1"/>
              <a:t>Pentester</a:t>
            </a: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0E3CE-C959-B816-63DF-94FF2C2EF728}"/>
              </a:ext>
            </a:extLst>
          </p:cNvPr>
          <p:cNvSpPr txBox="1"/>
          <p:nvPr/>
        </p:nvSpPr>
        <p:spPr>
          <a:xfrm>
            <a:off x="481554" y="4695777"/>
            <a:ext cx="53189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CISO workshops; </a:t>
            </a:r>
            <a:r>
              <a:rPr lang="en-US">
                <a:ea typeface="+mn-lt"/>
                <a:cs typeface="+mn-lt"/>
                <a:hlinkClick r:id="rId3"/>
              </a:rPr>
              <a:t>https://ciso.uw.edu/education/outreach/workshops/#badthings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7" name="Picture 8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B1ADE585-C8E6-2C17-AFCE-9B30CACDC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648" y="431044"/>
            <a:ext cx="5444150" cy="2759299"/>
          </a:xfrm>
          <a:prstGeom prst="rect">
            <a:avLst/>
          </a:prstGeom>
        </p:spPr>
      </p:pic>
      <p:pic>
        <p:nvPicPr>
          <p:cNvPr id="6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3E3EB16-7280-3697-2A20-71E11F207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779" y="3332070"/>
            <a:ext cx="5640473" cy="3235404"/>
          </a:xfrm>
          <a:prstGeom prst="rect">
            <a:avLst/>
          </a:prstGeom>
        </p:spPr>
      </p:pic>
      <p:pic>
        <p:nvPicPr>
          <p:cNvPr id="9" name="Picture 9" descr="A picture containing text, indoor, person, ceiling&#10;&#10;Description automatically generated">
            <a:extLst>
              <a:ext uri="{FF2B5EF4-FFF2-40B4-BE49-F238E27FC236}">
                <a16:creationId xmlns:a16="http://schemas.microsoft.com/office/drawing/2014/main" id="{75D058F3-2EB9-559D-BBD5-95AB15363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880" y="375410"/>
            <a:ext cx="5469466" cy="3051093"/>
          </a:xfrm>
          <a:prstGeom prst="rect">
            <a:avLst/>
          </a:prstGeom>
        </p:spPr>
      </p:pic>
      <p:pic>
        <p:nvPicPr>
          <p:cNvPr id="11" name="Picture 11" descr="Map&#10;&#10;Description automatically generated">
            <a:extLst>
              <a:ext uri="{FF2B5EF4-FFF2-40B4-BE49-F238E27FC236}">
                <a16:creationId xmlns:a16="http://schemas.microsoft.com/office/drawing/2014/main" id="{242A6E93-B81D-795F-C14F-7BC83EBD0A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819" y="270619"/>
            <a:ext cx="5676181" cy="3253956"/>
          </a:xfrm>
          <a:prstGeom prst="rect">
            <a:avLst/>
          </a:prstGeom>
        </p:spPr>
      </p:pic>
      <p:pic>
        <p:nvPicPr>
          <p:cNvPr id="10" name="Picture 10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FDA2A3F-BE45-D0BD-2386-05C69FDF2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0891" y="291656"/>
            <a:ext cx="6541292" cy="410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6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8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A9351-151C-4D96-A47C-808D6ADF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 -</a:t>
            </a:r>
            <a:r>
              <a:rPr lang="en-US">
                <a:ea typeface="+mj-lt"/>
                <a:cs typeface="+mj-lt"/>
              </a:rPr>
              <a:t>Blazing a Path to the Future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26AE6B-96AD-42B2-ACF0-820CA76F24FF}"/>
              </a:ext>
            </a:extLst>
          </p:cNvPr>
          <p:cNvSpPr txBox="1">
            <a:spLocks/>
          </p:cNvSpPr>
          <p:nvPr/>
        </p:nvSpPr>
        <p:spPr>
          <a:xfrm>
            <a:off x="553186" y="5746905"/>
            <a:ext cx="8197114" cy="746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2ABEC-8307-C253-FF35-7C2B647B1418}"/>
              </a:ext>
            </a:extLst>
          </p:cNvPr>
          <p:cNvSpPr txBox="1"/>
          <p:nvPr/>
        </p:nvSpPr>
        <p:spPr>
          <a:xfrm>
            <a:off x="1250131" y="2426120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Help stop worrying if news items affect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10C28-D9D4-D59C-4F8C-F78E518C43AF}"/>
              </a:ext>
            </a:extLst>
          </p:cNvPr>
          <p:cNvSpPr txBox="1"/>
          <p:nvPr/>
        </p:nvSpPr>
        <p:spPr>
          <a:xfrm>
            <a:off x="3321289" y="4402142"/>
            <a:ext cx="64949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Move from Believing 2Knowing!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0880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E3C2-FD24-158F-200A-2B97628F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3D6478-3354-DE4E-D8DE-C7B9A97C3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840" y="438662"/>
            <a:ext cx="11416938" cy="80321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CD91D-73FE-618A-CEC3-4F19DBCE6A3F}"/>
              </a:ext>
            </a:extLst>
          </p:cNvPr>
          <p:cNvSpPr txBox="1"/>
          <p:nvPr/>
        </p:nvSpPr>
        <p:spPr>
          <a:xfrm>
            <a:off x="6791093" y="4521746"/>
            <a:ext cx="356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https://tinyurl.com/cisotweet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15847-5C4F-D505-03A2-F3B9AE308BA8}"/>
              </a:ext>
            </a:extLst>
          </p:cNvPr>
          <p:cNvSpPr txBox="1"/>
          <p:nvPr/>
        </p:nvSpPr>
        <p:spPr>
          <a:xfrm>
            <a:off x="6593416" y="3566583"/>
            <a:ext cx="41169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  <a:hlinkClick r:id="rId4"/>
              </a:rPr>
              <a:t>https://pollev.com/jessefmoore821</a:t>
            </a:r>
            <a:endParaRPr lang="en-US" b="1">
              <a:solidFill>
                <a:schemeClr val="accent5">
                  <a:lumMod val="75000"/>
                </a:schemeClr>
              </a:solidFill>
              <a:ea typeface="+mn-lt"/>
              <a:cs typeface="+mn-lt"/>
              <a:hlinkClick r:id="rId4"/>
            </a:endParaRPr>
          </a:p>
          <a:p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83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 Tools Projects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07DE6-D93E-114E-19F2-549BFD04D615}"/>
              </a:ext>
            </a:extLst>
          </p:cNvPr>
          <p:cNvSpPr txBox="1"/>
          <p:nvPr/>
        </p:nvSpPr>
        <p:spPr>
          <a:xfrm>
            <a:off x="6265712" y="0"/>
            <a:ext cx="522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https://tinyurl.com/xlsProj</a:t>
            </a:r>
          </a:p>
        </p:txBody>
      </p:sp>
      <p:pic>
        <p:nvPicPr>
          <p:cNvPr id="3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8F53CA-2B3C-D092-682A-51FCACB5E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7" y="-12577"/>
            <a:ext cx="11341864" cy="6880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2DE112-54E2-25AD-E1A4-F11D88842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955" y="82193"/>
            <a:ext cx="7772400" cy="6115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33601-5C0A-926B-D237-E3BBB2E32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955" y="82193"/>
            <a:ext cx="6121400" cy="579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DE4385-EE25-E023-F110-2132BD040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955" y="82193"/>
            <a:ext cx="7772400" cy="3464665"/>
          </a:xfrm>
          <a:prstGeom prst="rect">
            <a:avLst/>
          </a:prstGeom>
        </p:spPr>
      </p:pic>
      <p:pic>
        <p:nvPicPr>
          <p:cNvPr id="13" name="Picture 1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7911683-7056-C41A-A8D0-60D3021B7A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4056" y="132078"/>
            <a:ext cx="8900509" cy="7574809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C4A4C2EF-516B-5F06-92F5-224A802EE5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18" y="4649649"/>
            <a:ext cx="8328211" cy="2210148"/>
          </a:xfrm>
          <a:prstGeom prst="rect">
            <a:avLst/>
          </a:prstGeom>
        </p:spPr>
      </p:pic>
      <p:pic>
        <p:nvPicPr>
          <p:cNvPr id="11" name="Picture 1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D94969F-EA19-C3E4-E339-CE233CEAED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67667" y="992578"/>
            <a:ext cx="12989858" cy="3727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9A6767-CA5D-25C5-C408-3F783250DBDD}"/>
              </a:ext>
            </a:extLst>
          </p:cNvPr>
          <p:cNvSpPr txBox="1"/>
          <p:nvPr/>
        </p:nvSpPr>
        <p:spPr>
          <a:xfrm>
            <a:off x="36286" y="671285"/>
            <a:ext cx="41547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  <a:hlinkClick r:id="rId10"/>
              </a:rPr>
              <a:t>https://pollev.com/jessefmoore821</a:t>
            </a:r>
            <a:endParaRPr lang="en-US">
              <a:solidFill>
                <a:schemeClr val="accent5">
                  <a:lumMod val="75000"/>
                </a:schemeClr>
              </a:solidFill>
              <a:ea typeface="+mn-lt"/>
              <a:cs typeface="+mn-lt"/>
              <a:hlinkClick r:id="rId10"/>
            </a:endParaRP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6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E980-F9AE-B540-B921-0AC9D600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860" y="973668"/>
            <a:ext cx="9245507" cy="70696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Agenda #1 stop worrying ?--&gt; Active Directory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99719-7974-463F-99FA-F0FD0BE3ED10}"/>
              </a:ext>
            </a:extLst>
          </p:cNvPr>
          <p:cNvSpPr txBox="1"/>
          <p:nvPr/>
        </p:nvSpPr>
        <p:spPr>
          <a:xfrm>
            <a:off x="949025" y="3094964"/>
            <a:ext cx="742552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r>
              <a:rPr lang="en-US" sz="2400" b="1"/>
              <a:t>Northshore School district</a:t>
            </a:r>
            <a:r>
              <a:rPr lang="en-US" b="1"/>
              <a:t> </a:t>
            </a:r>
            <a:r>
              <a:rPr lang="en-US"/>
              <a:t>System admins share their experience: </a:t>
            </a:r>
            <a:r>
              <a:rPr lang="en-US">
                <a:ea typeface="+mn-lt"/>
                <a:cs typeface="+mn-lt"/>
              </a:rPr>
              <a:t>https://tinyurl.com/NSRan</a:t>
            </a:r>
          </a:p>
        </p:txBody>
      </p:sp>
      <p:pic>
        <p:nvPicPr>
          <p:cNvPr id="11" name="Picture 2" descr="wanna cry">
            <a:extLst>
              <a:ext uri="{FF2B5EF4-FFF2-40B4-BE49-F238E27FC236}">
                <a16:creationId xmlns:a16="http://schemas.microsoft.com/office/drawing/2014/main" id="{7D6EABB7-05E8-4C1A-AD0B-D3FDB9B3A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95" y="4037821"/>
            <a:ext cx="2283769" cy="172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Diagram&#10;&#10;Description automatically generated">
            <a:extLst>
              <a:ext uri="{FF2B5EF4-FFF2-40B4-BE49-F238E27FC236}">
                <a16:creationId xmlns:a16="http://schemas.microsoft.com/office/drawing/2014/main" id="{8D5CFE81-6000-4592-B647-A127E029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56" y="4042570"/>
            <a:ext cx="3491399" cy="2785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AEAB35-49BC-488E-BA5C-8CD08DFDAA7D}"/>
              </a:ext>
            </a:extLst>
          </p:cNvPr>
          <p:cNvSpPr txBox="1"/>
          <p:nvPr/>
        </p:nvSpPr>
        <p:spPr>
          <a:xfrm>
            <a:off x="1015302" y="2411006"/>
            <a:ext cx="74240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 about </a:t>
            </a:r>
            <a:r>
              <a:rPr lang="en-US" sz="2800" b="1">
                <a:ea typeface="+mn-lt"/>
                <a:cs typeface="+mn-lt"/>
              </a:rPr>
              <a:t>all the steps while they are in?</a:t>
            </a:r>
            <a:r>
              <a:rPr lang="en-US" b="1">
                <a:ea typeface="+mn-lt"/>
                <a:cs typeface="+mn-lt"/>
              </a:rPr>
              <a:t> 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B5ECD-06AC-9F66-1C86-C8A14676C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0896" y="2010181"/>
            <a:ext cx="8468907" cy="4845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3324A1-6982-9EC9-EA30-723DBBFD53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494" y="2011959"/>
            <a:ext cx="8032391" cy="5325218"/>
          </a:xfrm>
          <a:prstGeom prst="rect">
            <a:avLst/>
          </a:prstGeom>
        </p:spPr>
      </p:pic>
      <p:pic>
        <p:nvPicPr>
          <p:cNvPr id="3" name="Picture 5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DB512355-24CF-F702-F77E-03999C8523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235" y="1986040"/>
            <a:ext cx="9497290" cy="4849121"/>
          </a:xfrm>
          <a:prstGeom prst="rect">
            <a:avLst/>
          </a:prstGeom>
        </p:spPr>
      </p:pic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A4D2BE19-A169-4499-9E88-053B08F313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866" y="1490133"/>
            <a:ext cx="5240866" cy="524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C9BEB64F-29B6-1491-9692-B40E1DBB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3627885"/>
            <a:ext cx="8737750" cy="541953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7F3D6F2-F008-1941-3C85-5F08874A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" y="2237863"/>
            <a:ext cx="11874500" cy="18830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B70B3-8509-9AAD-E6E8-1CD7F171B322}"/>
              </a:ext>
            </a:extLst>
          </p:cNvPr>
          <p:cNvSpPr txBox="1"/>
          <p:nvPr/>
        </p:nvSpPr>
        <p:spPr>
          <a:xfrm>
            <a:off x="1182030" y="791737"/>
            <a:ext cx="9188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Who wants to Simulate Ransomware in Active Directory???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2F8AD-8C44-42F2-5385-A417C0C33AD4}"/>
              </a:ext>
            </a:extLst>
          </p:cNvPr>
          <p:cNvSpPr txBox="1"/>
          <p:nvPr/>
        </p:nvSpPr>
        <p:spPr>
          <a:xfrm>
            <a:off x="4025590" y="1386504"/>
            <a:ext cx="3702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https://tinyurl.com/RansomWS</a:t>
            </a:r>
          </a:p>
        </p:txBody>
      </p:sp>
    </p:spTree>
    <p:extLst>
      <p:ext uri="{BB962C8B-B14F-4D97-AF65-F5344CB8AC3E}">
        <p14:creationId xmlns:p14="http://schemas.microsoft.com/office/powerpoint/2010/main" val="358075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07D4-F4B7-444D-A86D-B7101B8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Assessment --&gt;"Defense in Depth"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FBCF1-3A55-E933-DE52-318406511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042" y="2190905"/>
            <a:ext cx="3730959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846CF-CAF4-C03F-D30E-62D58920B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631" y="2377968"/>
            <a:ext cx="3263525" cy="3042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DEB762-F25D-730E-0C13-7C3AF5BDA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786" y="2356007"/>
            <a:ext cx="4293162" cy="30421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0FDB18-58B6-BC38-5ADD-AF04B36C8CB4}"/>
              </a:ext>
            </a:extLst>
          </p:cNvPr>
          <p:cNvSpPr txBox="1"/>
          <p:nvPr/>
        </p:nvSpPr>
        <p:spPr>
          <a:xfrm>
            <a:off x="8525847" y="5607021"/>
            <a:ext cx="394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https://tinyurl.com/ADefence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2AE6E-5EEB-1986-FCAC-6E599B6F6093}"/>
              </a:ext>
            </a:extLst>
          </p:cNvPr>
          <p:cNvSpPr txBox="1"/>
          <p:nvPr/>
        </p:nvSpPr>
        <p:spPr>
          <a:xfrm>
            <a:off x="830199" y="5670520"/>
            <a:ext cx="408575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hlinkClick r:id="rId6"/>
              </a:rPr>
              <a:t>https://tinyurl.com/WSBloodHound</a:t>
            </a:r>
            <a:endParaRPr lang="en-US"/>
          </a:p>
        </p:txBody>
      </p:sp>
      <p:pic>
        <p:nvPicPr>
          <p:cNvPr id="6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79D73B7-6D12-A8B7-C998-73EBEDD77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188" y="2374538"/>
            <a:ext cx="5640473" cy="3235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EE734D-22BA-34E0-6263-FD2B9755AB08}"/>
              </a:ext>
            </a:extLst>
          </p:cNvPr>
          <p:cNvSpPr txBox="1"/>
          <p:nvPr/>
        </p:nvSpPr>
        <p:spPr>
          <a:xfrm>
            <a:off x="1933329" y="6114845"/>
            <a:ext cx="93264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rId8"/>
              </a:rPr>
              <a:t>https://tajdini.net/blog/penetration/active-directory-penetration-mind-map/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7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E9228-A258-C063-ACC3-FBF630C5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4266" y="1124435"/>
            <a:ext cx="4098804" cy="3361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rgbClr val="EBEBEB"/>
                </a:solidFill>
              </a:rPr>
              <a:t>Defense in depth!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6791ED97-849F-AA8E-2CC5-F70B492BB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72562" y="961025"/>
            <a:ext cx="6011373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029185-441A-0632-0464-B149931930F9}"/>
              </a:ext>
            </a:extLst>
          </p:cNvPr>
          <p:cNvSpPr txBox="1"/>
          <p:nvPr/>
        </p:nvSpPr>
        <p:spPr>
          <a:xfrm>
            <a:off x="7660453" y="5597514"/>
            <a:ext cx="409880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u="sng">
              <a:hlinkClick r:id="rId5"/>
            </a:endParaRPr>
          </a:p>
          <a:p>
            <a:r>
              <a:rPr lang="en-US" sz="2400" u="sng">
                <a:cs typeface="Calibri"/>
                <a:hlinkClick r:id="rId6"/>
              </a:rPr>
              <a:t>https://thedfirreport.com/</a:t>
            </a:r>
          </a:p>
          <a:p>
            <a:pPr algn="l"/>
            <a:endParaRPr lang="en-US" sz="2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6CE7E1-FB0A-D2C6-72C2-8BBB6EA8F5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88" y="963490"/>
            <a:ext cx="6351519" cy="46550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C8B2D1-708E-4271-4B18-F17889C1DE63}"/>
              </a:ext>
            </a:extLst>
          </p:cNvPr>
          <p:cNvSpPr txBox="1"/>
          <p:nvPr/>
        </p:nvSpPr>
        <p:spPr>
          <a:xfrm>
            <a:off x="1068388" y="5779492"/>
            <a:ext cx="675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https://tinyurl.com/BruteRatel</a:t>
            </a:r>
          </a:p>
        </p:txBody>
      </p:sp>
      <p:pic>
        <p:nvPicPr>
          <p:cNvPr id="3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353F525-035B-6091-F783-644AC05046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674" y="1124682"/>
            <a:ext cx="7113751" cy="446998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5B126F2-6A01-043E-7EAA-7D5EE7FC27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551" y="1051094"/>
            <a:ext cx="8853578" cy="456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49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29" y="568856"/>
            <a:ext cx="9672309" cy="706964"/>
          </a:xfrm>
        </p:spPr>
        <p:txBody>
          <a:bodyPr/>
          <a:lstStyle/>
          <a:p>
            <a:r>
              <a:rPr lang="en-US" dirty="0"/>
              <a:t> --&gt;Stop watching the news?</a:t>
            </a:r>
          </a:p>
        </p:txBody>
      </p:sp>
      <p:pic>
        <p:nvPicPr>
          <p:cNvPr id="9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8A31E91-EDA4-E2BF-0983-CDECFA7B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59" y="1271334"/>
            <a:ext cx="10510091" cy="2818874"/>
          </a:xfrm>
          <a:prstGeom prst="rect">
            <a:avLst/>
          </a:prstGeom>
        </p:spPr>
      </p:pic>
      <p:pic>
        <p:nvPicPr>
          <p:cNvPr id="10" name="Picture 10" descr="Text, table&#10;&#10;Description automatically generated">
            <a:extLst>
              <a:ext uri="{FF2B5EF4-FFF2-40B4-BE49-F238E27FC236}">
                <a16:creationId xmlns:a16="http://schemas.microsoft.com/office/drawing/2014/main" id="{D07B9AE0-4FD1-BAFB-7710-197189BF1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59" y="4171818"/>
            <a:ext cx="10464187" cy="1084969"/>
          </a:xfrm>
          <a:prstGeom prst="rect">
            <a:avLst/>
          </a:prstGeom>
        </p:spPr>
      </p:pic>
      <p:pic>
        <p:nvPicPr>
          <p:cNvPr id="11" name="Picture 11" descr="Text, table&#10;&#10;Description automatically generated">
            <a:extLst>
              <a:ext uri="{FF2B5EF4-FFF2-40B4-BE49-F238E27FC236}">
                <a16:creationId xmlns:a16="http://schemas.microsoft.com/office/drawing/2014/main" id="{55A6952C-8A87-891A-7017-74DF05CC1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59" y="5294275"/>
            <a:ext cx="10427464" cy="8139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575A20-7474-8382-8B6A-9EB23C9631EF}"/>
              </a:ext>
            </a:extLst>
          </p:cNvPr>
          <p:cNvSpPr txBox="1"/>
          <p:nvPr/>
        </p:nvSpPr>
        <p:spPr>
          <a:xfrm>
            <a:off x="7439808" y="1335797"/>
            <a:ext cx="35776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ea typeface="+mn-lt"/>
                <a:cs typeface="+mn-lt"/>
                <a:hlinkClick r:id="rId6"/>
              </a:rPr>
              <a:t>https://tinyurl.com/xlsProj</a:t>
            </a:r>
            <a:endParaRPr lang="en-US">
              <a:ea typeface="+mn-lt"/>
              <a:cs typeface="+mn-lt"/>
            </a:endParaRPr>
          </a:p>
          <a:p>
            <a:endParaRPr lang="en-US" b="1"/>
          </a:p>
        </p:txBody>
      </p:sp>
      <p:pic>
        <p:nvPicPr>
          <p:cNvPr id="13" name="Picture 1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B14E8E6-7BF5-71EE-D5BF-D6F5794C6F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82" y="6188270"/>
            <a:ext cx="10381561" cy="5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2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5B15-D6C6-0B86-D9B9-146DA578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68" y="710597"/>
            <a:ext cx="9556589" cy="706964"/>
          </a:xfrm>
        </p:spPr>
        <p:txBody>
          <a:bodyPr/>
          <a:lstStyle/>
          <a:p>
            <a:r>
              <a:rPr lang="en-US" dirty="0"/>
              <a:t>Early warning detection system (LLMNR) NOT in the News... </a:t>
            </a:r>
            <a:r>
              <a:rPr lang="en-US" dirty="0" err="1"/>
              <a:t>waaay</a:t>
            </a:r>
            <a:r>
              <a:rPr lang="en-US" dirty="0"/>
              <a:t> better.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F6804-2677-623D-80DC-9FEE935E8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760" y="1532482"/>
            <a:ext cx="8521125" cy="47686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62F571-869C-BCD2-D4A4-88E056782D0E}"/>
              </a:ext>
            </a:extLst>
          </p:cNvPr>
          <p:cNvSpPr txBox="1"/>
          <p:nvPr/>
        </p:nvSpPr>
        <p:spPr>
          <a:xfrm>
            <a:off x="213360" y="6298083"/>
            <a:ext cx="1166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https://tinyurl.com/EarlyDetections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AB37B0-ACCF-E2F2-2673-7D5F6182F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028" y="2897183"/>
            <a:ext cx="8240275" cy="3400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8F00D6-6F36-3D94-CF85-326666CD9B99}"/>
              </a:ext>
            </a:extLst>
          </p:cNvPr>
          <p:cNvSpPr txBox="1"/>
          <p:nvPr/>
        </p:nvSpPr>
        <p:spPr>
          <a:xfrm>
            <a:off x="4617183" y="6348779"/>
            <a:ext cx="26352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  <a:hlinkClick r:id="rId5"/>
              </a:rPr>
              <a:t>https://twitter.com/jessefmoore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244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29" y="568856"/>
            <a:ext cx="8761413" cy="706964"/>
          </a:xfrm>
        </p:spPr>
        <p:txBody>
          <a:bodyPr/>
          <a:lstStyle/>
          <a:p>
            <a:r>
              <a:rPr lang="en-US" dirty="0"/>
              <a:t>If you can't defense in depth?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55510C6-9C06-4F85-8BC4-0404E307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228" y="2164044"/>
            <a:ext cx="7880554" cy="4508356"/>
          </a:xfrm>
          <a:prstGeom prst="rect">
            <a:avLst/>
          </a:prstGeom>
        </p:spPr>
      </p:pic>
      <p:pic>
        <p:nvPicPr>
          <p:cNvPr id="7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56D93B8-9710-A8F5-DD47-A804B6F94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60" y="1371159"/>
            <a:ext cx="9711811" cy="61583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0FD9E0-8763-6C9A-1723-693293605EF1}"/>
              </a:ext>
            </a:extLst>
          </p:cNvPr>
          <p:cNvSpPr txBox="1"/>
          <p:nvPr/>
        </p:nvSpPr>
        <p:spPr>
          <a:xfrm>
            <a:off x="7178872" y="5656293"/>
            <a:ext cx="34859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https://bia.cisecurity.org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3FCEA-3FAD-21A7-0C6A-A0EAFA511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346" y="1471045"/>
            <a:ext cx="5132771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7E7D0C-79D0-5F18-CBAF-7335D91850D3}"/>
              </a:ext>
            </a:extLst>
          </p:cNvPr>
          <p:cNvSpPr txBox="1"/>
          <p:nvPr/>
        </p:nvSpPr>
        <p:spPr>
          <a:xfrm>
            <a:off x="4825999" y="6324600"/>
            <a:ext cx="58166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  <a:hlinkClick r:id="rId6"/>
              </a:rPr>
              <a:t>https://play.backdoorsandbreaches.com/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605A6-739B-4D0C-E533-A89DCF13E323}"/>
              </a:ext>
            </a:extLst>
          </p:cNvPr>
          <p:cNvSpPr txBox="1"/>
          <p:nvPr/>
        </p:nvSpPr>
        <p:spPr>
          <a:xfrm>
            <a:off x="4397296" y="3311096"/>
            <a:ext cx="38849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  <a:hlinkClick r:id="rId7"/>
              </a:rPr>
              <a:t>https://www.nextron-systems.com/thor-lite/</a:t>
            </a:r>
            <a:endParaRPr lang="en-US"/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14B17C23-FC61-9FED-04DE-9424BB539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065" y="1313136"/>
            <a:ext cx="10553700" cy="598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D3217-7401-E24F-B0B2-97608709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957" y="795941"/>
            <a:ext cx="5428551" cy="7885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Take aways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41DF89-F1FF-DA9C-8134-6ADC661A63A4}"/>
              </a:ext>
            </a:extLst>
          </p:cNvPr>
          <p:cNvSpPr txBox="1"/>
          <p:nvPr/>
        </p:nvSpPr>
        <p:spPr>
          <a:xfrm>
            <a:off x="1014422" y="1887564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B0F0"/>
                </a:solidFill>
                <a:ea typeface="+mn-lt"/>
                <a:cs typeface="+mn-lt"/>
              </a:rPr>
              <a:t>Active Directory Risks &amp; Tips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3B287-B2A1-D8EE-9394-2B3C9EDE558F}"/>
              </a:ext>
            </a:extLst>
          </p:cNvPr>
          <p:cNvSpPr txBox="1"/>
          <p:nvPr/>
        </p:nvSpPr>
        <p:spPr>
          <a:xfrm>
            <a:off x="1011102" y="3160724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B0F0"/>
                </a:solidFill>
                <a:ea typeface="+mn-lt"/>
                <a:cs typeface="+mn-lt"/>
              </a:rPr>
              <a:t>Help stop worrying if news items affect you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3C869-5C6E-B8BE-DF4D-E1B5FB84122D}"/>
              </a:ext>
            </a:extLst>
          </p:cNvPr>
          <p:cNvSpPr txBox="1"/>
          <p:nvPr/>
        </p:nvSpPr>
        <p:spPr>
          <a:xfrm>
            <a:off x="1009434" y="4797762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B0F0"/>
                </a:solidFill>
              </a:rPr>
              <a:t>Workshops and other materials for Admins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3C21B-722D-4C71-9A57-AC6F563EC29F}"/>
              </a:ext>
            </a:extLst>
          </p:cNvPr>
          <p:cNvSpPr txBox="1"/>
          <p:nvPr/>
        </p:nvSpPr>
        <p:spPr>
          <a:xfrm>
            <a:off x="1309736" y="2197607"/>
            <a:ext cx="5205932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Hire AD Experts to review your AD!!! AND OR a </a:t>
            </a: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PENTeSTER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!!!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700">
              <a:solidFill>
                <a:schemeClr val="bg1"/>
              </a:solidFill>
            </a:endParaRPr>
          </a:p>
          <a:p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D637A4-631F-4488-E82C-241B186B61E3}"/>
              </a:ext>
            </a:extLst>
          </p:cNvPr>
          <p:cNvSpPr txBox="1"/>
          <p:nvPr/>
        </p:nvSpPr>
        <p:spPr>
          <a:xfrm>
            <a:off x="1311180" y="3548803"/>
            <a:ext cx="520593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Project (Risk /Controls) Plan.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https://tinyurl.com/xlsProj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Wingdings"/>
              <a:buChar char="Ø"/>
            </a:pPr>
            <a:r>
              <a:rPr lang="en-US" sz="1700" dirty="0">
                <a:solidFill>
                  <a:schemeClr val="bg1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https://bia.cisecurity.org</a:t>
            </a:r>
          </a:p>
          <a:p>
            <a:pPr marL="285750" indent="-285750">
              <a:buFont typeface="Wingdings"/>
              <a:buChar char="Ø"/>
            </a:pPr>
            <a:r>
              <a:rPr lang="en-US" sz="1700" dirty="0">
                <a:solidFill>
                  <a:schemeClr val="bg1"/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https://www.nextron-systems.com/thor-lite/</a:t>
            </a:r>
            <a:endParaRPr lang="en-US" sz="1700" dirty="0">
              <a:solidFill>
                <a:schemeClr val="bg1"/>
              </a:solidFill>
              <a:latin typeface="Calibri"/>
              <a:cs typeface="Calibri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Wingdings"/>
              <a:buChar char="Ø"/>
            </a:pPr>
            <a:endParaRPr lang="en-US" sz="1700" dirty="0">
              <a:solidFill>
                <a:srgbClr val="000000"/>
              </a:solidFill>
              <a:latin typeface="Century Gothic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sz="1700" dirty="0">
              <a:solidFill>
                <a:srgbClr val="FFFFFF"/>
              </a:solidFill>
              <a:latin typeface="Calibri"/>
              <a:cs typeface="Calibri"/>
            </a:endParaRPr>
          </a:p>
          <a:p>
            <a:endParaRPr lang="en-US" sz="1700" dirty="0">
              <a:solidFill>
                <a:srgbClr val="FFFFFF"/>
              </a:solidFill>
              <a:latin typeface="Century Gothic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7CA376-FA46-8E77-A5BB-B075D6222E56}"/>
              </a:ext>
            </a:extLst>
          </p:cNvPr>
          <p:cNvSpPr txBox="1"/>
          <p:nvPr/>
        </p:nvSpPr>
        <p:spPr>
          <a:xfrm>
            <a:off x="1315356" y="5174905"/>
            <a:ext cx="5205932" cy="3462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BloodHound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&amp;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PingCastle</a:t>
            </a:r>
            <a:r>
              <a:rPr lang="en-US" dirty="0">
                <a:solidFill>
                  <a:schemeClr val="bg1"/>
                </a:solidFill>
                <a:latin typeface="Century Gothic"/>
                <a:ea typeface="+mn-lt"/>
                <a:cs typeface="Segoe UI"/>
              </a:rPr>
              <a:t> </a:t>
            </a:r>
            <a:endParaRPr lang="en-US" sz="1400" dirty="0">
              <a:solidFill>
                <a:schemeClr val="bg1"/>
              </a:solidFill>
              <a:latin typeface="Calibri"/>
              <a:ea typeface="+mn-lt"/>
              <a:cs typeface="Segoe U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Century Gothic"/>
                <a:ea typeface="Calibri"/>
                <a:cs typeface="Segoe UI"/>
                <a:hlinkClick r:id="rId7"/>
              </a:rPr>
              <a:t>https://tinyurl.com/WSBloodHound</a:t>
            </a:r>
            <a:endParaRPr lang="en-US" sz="1600">
              <a:solidFill>
                <a:schemeClr val="bg1"/>
              </a:solidFill>
              <a:latin typeface="Calibri"/>
              <a:ea typeface="Calibri"/>
              <a:cs typeface="Segoe UI"/>
              <a:hlinkClick r:id="rId7"/>
            </a:endParaRPr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libri"/>
                <a:cs typeface="Segoe U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https://tinyurl.com/EarlyDetections</a:t>
            </a:r>
            <a:endParaRPr lang="en-US" sz="1600">
              <a:solidFill>
                <a:schemeClr val="bg2">
                  <a:lumMod val="75000"/>
                </a:schemeClr>
              </a:solidFill>
              <a:latin typeface="Calibri"/>
              <a:cs typeface="Segoe UI"/>
            </a:endParaRPr>
          </a:p>
          <a:p>
            <a:pPr marL="285750" indent="-285750"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Century Gothic"/>
                <a:cs typeface="Segoe U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https://play.backdoorsandbreaches.com/</a:t>
            </a:r>
            <a:endParaRPr lang="en-US" sz="1600" dirty="0">
              <a:solidFill>
                <a:schemeClr val="bg1"/>
              </a:solidFill>
              <a:latin typeface="Century Gothic"/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Century Gothic"/>
              <a:cs typeface="Segoe UI"/>
            </a:endParaRPr>
          </a:p>
          <a:p>
            <a:endParaRPr lang="en-US" sz="1600" dirty="0">
              <a:solidFill>
                <a:srgbClr val="B0B0B0"/>
              </a:solidFill>
              <a:latin typeface="Calibri"/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sz="1600" dirty="0">
              <a:solidFill>
                <a:schemeClr val="bg1"/>
              </a:solidFill>
              <a:latin typeface="Calibri"/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sz="1600" dirty="0">
              <a:solidFill>
                <a:schemeClr val="bg1"/>
              </a:solidFill>
              <a:latin typeface="Calibri"/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solidFill>
                <a:schemeClr val="bg1"/>
              </a:solidFill>
              <a:cs typeface="Segoe UI"/>
            </a:endParaRPr>
          </a:p>
          <a:p>
            <a:endParaRPr lang="en-US" dirty="0">
              <a:solidFill>
                <a:schemeClr val="bg1"/>
              </a:solidFill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solidFill>
                <a:schemeClr val="bg1"/>
              </a:solidFill>
              <a:cs typeface="Segoe U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solidFill>
                <a:schemeClr val="bg1"/>
              </a:solidFill>
              <a:cs typeface="Segoe UI"/>
            </a:endParaRPr>
          </a:p>
          <a:p>
            <a:pPr marL="285750" indent="-285750">
              <a:buFont typeface="Wingdings"/>
              <a:buChar char="§"/>
            </a:pPr>
            <a:endParaRPr lang="en-US" sz="170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3" name="Picture 5" descr="A picture containing engineering drawing&#10;&#10;Description automatically generated">
            <a:extLst>
              <a:ext uri="{FF2B5EF4-FFF2-40B4-BE49-F238E27FC236}">
                <a16:creationId xmlns:a16="http://schemas.microsoft.com/office/drawing/2014/main" id="{8F876F2A-5344-787C-54C1-3CB8B3321B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098030" y="1522730"/>
            <a:ext cx="4825999" cy="3644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8A9A8E-2A46-B42F-C272-A6A2FE4695F2}"/>
              </a:ext>
            </a:extLst>
          </p:cNvPr>
          <p:cNvSpPr txBox="1"/>
          <p:nvPr/>
        </p:nvSpPr>
        <p:spPr>
          <a:xfrm>
            <a:off x="7680960" y="5730239"/>
            <a:ext cx="349758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accent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https://www.blackhillsinfosec.com/prompt-zine/</a:t>
            </a:r>
            <a:endParaRPr lang="en-US" sz="110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AF7C4-AF4D-2BDD-B1BB-77829730636F}"/>
              </a:ext>
            </a:extLst>
          </p:cNvPr>
          <p:cNvSpPr txBox="1"/>
          <p:nvPr/>
        </p:nvSpPr>
        <p:spPr>
          <a:xfrm>
            <a:off x="1243723" y="1453930"/>
            <a:ext cx="62011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Moving from believing to knowing!</a:t>
            </a:r>
          </a:p>
        </p:txBody>
      </p:sp>
    </p:spTree>
    <p:extLst>
      <p:ext uri="{BB962C8B-B14F-4D97-AF65-F5344CB8AC3E}">
        <p14:creationId xmlns:p14="http://schemas.microsoft.com/office/powerpoint/2010/main" val="349750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4" grpId="0"/>
      <p:bldP spid="15" grpId="0"/>
      <p:bldP spid="16" grpId="0"/>
      <p:bldP spid="17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D3217-7401-E24F-B0B2-97608709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244" y="1241267"/>
            <a:ext cx="4461368" cy="24991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D7E9-2F70-8B4E-B68C-E81CDD449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348" y="5229333"/>
            <a:ext cx="5428551" cy="1120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@jessefmoore on Twitter</a:t>
            </a:r>
            <a:endParaRPr lang="en-US" cap="all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cap="al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Collab at work: moorej1@uw.edu</a:t>
            </a:r>
          </a:p>
          <a:p>
            <a:pPr marL="0" indent="0">
              <a:buNone/>
            </a:pPr>
            <a:endParaRPr lang="en-US" cap="al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5A9989-32D8-2B23-D5B2-7106B571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402" y="1764591"/>
            <a:ext cx="5130598" cy="332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89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2022_Ransomware</Template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Ion Boardroom</vt:lpstr>
      <vt:lpstr>Defense in Depth for Operations!</vt:lpstr>
      <vt:lpstr>Disclaimer</vt:lpstr>
      <vt:lpstr>Who is this?</vt:lpstr>
      <vt:lpstr>What has Jesse Been up to?</vt:lpstr>
      <vt:lpstr>Agenda -Blazing a Path to the Future</vt:lpstr>
      <vt:lpstr>PowerPoint Presentation</vt:lpstr>
      <vt:lpstr>Security Tools Projects </vt:lpstr>
      <vt:lpstr>Agenda #1 stop worrying ?--&gt; Active Directory</vt:lpstr>
      <vt:lpstr>PowerPoint Presentation</vt:lpstr>
      <vt:lpstr>AD Assessment --&gt;"Defense in Depth"</vt:lpstr>
      <vt:lpstr>Defense in depth!</vt:lpstr>
      <vt:lpstr> --&gt;Stop watching the news?</vt:lpstr>
      <vt:lpstr>Early warning detection system (LLMNR) NOT in the News... waaay better.</vt:lpstr>
      <vt:lpstr>If you can't defense in depth?</vt:lpstr>
      <vt:lpstr>Take 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 &amp; Tools</dc:title>
  <dc:creator>Jesse F Moore</dc:creator>
  <cp:revision>412</cp:revision>
  <dcterms:created xsi:type="dcterms:W3CDTF">2022-09-27T14:36:41Z</dcterms:created>
  <dcterms:modified xsi:type="dcterms:W3CDTF">2023-05-03T02:58:38Z</dcterms:modified>
</cp:coreProperties>
</file>