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9" r:id="rId1"/>
  </p:sldMasterIdLst>
  <p:notesMasterIdLst>
    <p:notesMasterId r:id="rId26"/>
  </p:notesMasterIdLst>
  <p:sldIdLst>
    <p:sldId id="256" r:id="rId2"/>
    <p:sldId id="272" r:id="rId3"/>
    <p:sldId id="283" r:id="rId4"/>
    <p:sldId id="276" r:id="rId5"/>
    <p:sldId id="266" r:id="rId6"/>
    <p:sldId id="289" r:id="rId7"/>
    <p:sldId id="264" r:id="rId8"/>
    <p:sldId id="280" r:id="rId9"/>
    <p:sldId id="279" r:id="rId10"/>
    <p:sldId id="257" r:id="rId11"/>
    <p:sldId id="287" r:id="rId12"/>
    <p:sldId id="290" r:id="rId13"/>
    <p:sldId id="278" r:id="rId14"/>
    <p:sldId id="285" r:id="rId15"/>
    <p:sldId id="268" r:id="rId16"/>
    <p:sldId id="286" r:id="rId17"/>
    <p:sldId id="265" r:id="rId18"/>
    <p:sldId id="273" r:id="rId19"/>
    <p:sldId id="262" r:id="rId20"/>
    <p:sldId id="281" r:id="rId21"/>
    <p:sldId id="269" r:id="rId22"/>
    <p:sldId id="291" r:id="rId23"/>
    <p:sldId id="263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5900D3-2247-4B56-A71E-90D06E8023C4}" v="654" dt="2022-10-05T16:18:42.5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4" autoAdjust="0"/>
    <p:restoredTop sz="72441" autoAdjust="0"/>
  </p:normalViewPr>
  <p:slideViewPr>
    <p:cSldViewPr snapToGrid="0">
      <p:cViewPr varScale="1">
        <p:scale>
          <a:sx n="115" d="100"/>
          <a:sy n="115" d="100"/>
        </p:scale>
        <p:origin x="419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256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se moore" userId="c3ab7f5df9cdf3f0" providerId="LiveId" clId="{DA5900D3-2247-4B56-A71E-90D06E8023C4}"/>
    <pc:docChg chg="undo custSel addSld modSld sldOrd">
      <pc:chgData name="jesse moore" userId="c3ab7f5df9cdf3f0" providerId="LiveId" clId="{DA5900D3-2247-4B56-A71E-90D06E8023C4}" dt="2022-10-05T16:18:42.527" v="2164"/>
      <pc:docMkLst>
        <pc:docMk/>
      </pc:docMkLst>
      <pc:sldChg chg="modSp mod">
        <pc:chgData name="jesse moore" userId="c3ab7f5df9cdf3f0" providerId="LiveId" clId="{DA5900D3-2247-4B56-A71E-90D06E8023C4}" dt="2022-10-04T22:20:57.689" v="1223" actId="20577"/>
        <pc:sldMkLst>
          <pc:docMk/>
          <pc:sldMk cId="2133816428" sldId="262"/>
        </pc:sldMkLst>
        <pc:spChg chg="mod">
          <ac:chgData name="jesse moore" userId="c3ab7f5df9cdf3f0" providerId="LiveId" clId="{DA5900D3-2247-4B56-A71E-90D06E8023C4}" dt="2022-10-04T22:20:57.689" v="1223" actId="20577"/>
          <ac:spMkLst>
            <pc:docMk/>
            <pc:sldMk cId="2133816428" sldId="262"/>
            <ac:spMk id="2" creationId="{2DC2C4A0-4747-A74F-BC10-B50D0DA9CFAF}"/>
          </ac:spMkLst>
        </pc:spChg>
      </pc:sldChg>
      <pc:sldChg chg="addSp delSp modSp mod delAnim modAnim">
        <pc:chgData name="jesse moore" userId="c3ab7f5df9cdf3f0" providerId="LiveId" clId="{DA5900D3-2247-4B56-A71E-90D06E8023C4}" dt="2022-10-05T15:43:21.131" v="2067"/>
        <pc:sldMkLst>
          <pc:docMk/>
          <pc:sldMk cId="1756563731" sldId="264"/>
        </pc:sldMkLst>
        <pc:picChg chg="del">
          <ac:chgData name="jesse moore" userId="c3ab7f5df9cdf3f0" providerId="LiveId" clId="{DA5900D3-2247-4B56-A71E-90D06E8023C4}" dt="2022-10-05T15:42:46.855" v="2058" actId="478"/>
          <ac:picMkLst>
            <pc:docMk/>
            <pc:sldMk cId="1756563731" sldId="264"/>
            <ac:picMk id="7" creationId="{B1ADE585-C8E6-2C17-AFCE-9B30CACDC7B8}"/>
          </ac:picMkLst>
        </pc:picChg>
        <pc:picChg chg="add mod">
          <ac:chgData name="jesse moore" userId="c3ab7f5df9cdf3f0" providerId="LiveId" clId="{DA5900D3-2247-4B56-A71E-90D06E8023C4}" dt="2022-10-05T15:42:51.080" v="2060" actId="14100"/>
          <ac:picMkLst>
            <pc:docMk/>
            <pc:sldMk cId="1756563731" sldId="264"/>
            <ac:picMk id="11" creationId="{2F25A077-1F18-02F9-0FB4-4F3DBFE53F7F}"/>
          </ac:picMkLst>
        </pc:picChg>
      </pc:sldChg>
      <pc:sldChg chg="addSp delSp modSp mod modAnim">
        <pc:chgData name="jesse moore" userId="c3ab7f5df9cdf3f0" providerId="LiveId" clId="{DA5900D3-2247-4B56-A71E-90D06E8023C4}" dt="2022-10-05T15:39:53.574" v="2057" actId="1076"/>
        <pc:sldMkLst>
          <pc:docMk/>
          <pc:sldMk cId="912736613" sldId="266"/>
        </pc:sldMkLst>
        <pc:spChg chg="mod">
          <ac:chgData name="jesse moore" userId="c3ab7f5df9cdf3f0" providerId="LiveId" clId="{DA5900D3-2247-4B56-A71E-90D06E8023C4}" dt="2022-10-04T21:46:07.049" v="1080" actId="1076"/>
          <ac:spMkLst>
            <pc:docMk/>
            <pc:sldMk cId="912736613" sldId="266"/>
            <ac:spMk id="5" creationId="{0EDF1DDF-4185-4057-B25F-459EEDA520E4}"/>
          </ac:spMkLst>
        </pc:spChg>
        <pc:spChg chg="add del">
          <ac:chgData name="jesse moore" userId="c3ab7f5df9cdf3f0" providerId="LiveId" clId="{DA5900D3-2247-4B56-A71E-90D06E8023C4}" dt="2022-10-04T21:42:56.823" v="880" actId="22"/>
          <ac:spMkLst>
            <pc:docMk/>
            <pc:sldMk cId="912736613" sldId="266"/>
            <ac:spMk id="6" creationId="{4B0E1EFA-F080-83CB-210D-BACEBB0C5C22}"/>
          </ac:spMkLst>
        </pc:spChg>
        <pc:spChg chg="mod">
          <ac:chgData name="jesse moore" userId="c3ab7f5df9cdf3f0" providerId="LiveId" clId="{DA5900D3-2247-4B56-A71E-90D06E8023C4}" dt="2022-10-04T21:44:38.177" v="1003" actId="1076"/>
          <ac:spMkLst>
            <pc:docMk/>
            <pc:sldMk cId="912736613" sldId="266"/>
            <ac:spMk id="7" creationId="{F28B3764-4175-46BE-924C-8F189854753D}"/>
          </ac:spMkLst>
        </pc:spChg>
        <pc:spChg chg="mod">
          <ac:chgData name="jesse moore" userId="c3ab7f5df9cdf3f0" providerId="LiveId" clId="{DA5900D3-2247-4B56-A71E-90D06E8023C4}" dt="2022-10-04T21:45:56.186" v="1079" actId="20577"/>
          <ac:spMkLst>
            <pc:docMk/>
            <pc:sldMk cId="912736613" sldId="266"/>
            <ac:spMk id="8" creationId="{33F2FF20-E037-4733-BF37-3D8AEF6F1DF7}"/>
          </ac:spMkLst>
        </pc:spChg>
        <pc:spChg chg="add mod">
          <ac:chgData name="jesse moore" userId="c3ab7f5df9cdf3f0" providerId="LiveId" clId="{DA5900D3-2247-4B56-A71E-90D06E8023C4}" dt="2022-10-05T15:39:53.574" v="2057" actId="1076"/>
          <ac:spMkLst>
            <pc:docMk/>
            <pc:sldMk cId="912736613" sldId="266"/>
            <ac:spMk id="9" creationId="{B4C42073-8780-8F2D-74F1-280429282A03}"/>
          </ac:spMkLst>
        </pc:spChg>
        <pc:spChg chg="add mod">
          <ac:chgData name="jesse moore" userId="c3ab7f5df9cdf3f0" providerId="LiveId" clId="{DA5900D3-2247-4B56-A71E-90D06E8023C4}" dt="2022-10-04T21:44:18.387" v="1001" actId="20577"/>
          <ac:spMkLst>
            <pc:docMk/>
            <pc:sldMk cId="912736613" sldId="266"/>
            <ac:spMk id="10" creationId="{018FDF54-AA39-4535-E5FC-2F262FB980CD}"/>
          </ac:spMkLst>
        </pc:spChg>
        <pc:spChg chg="add mod">
          <ac:chgData name="jesse moore" userId="c3ab7f5df9cdf3f0" providerId="LiveId" clId="{DA5900D3-2247-4B56-A71E-90D06E8023C4}" dt="2022-10-04T21:45:00.668" v="1037" actId="1076"/>
          <ac:spMkLst>
            <pc:docMk/>
            <pc:sldMk cId="912736613" sldId="266"/>
            <ac:spMk id="12" creationId="{E9B01C00-297B-3C9E-E119-2458ECCB7BF3}"/>
          </ac:spMkLst>
        </pc:spChg>
        <pc:spChg chg="add mod">
          <ac:chgData name="jesse moore" userId="c3ab7f5df9cdf3f0" providerId="LiveId" clId="{DA5900D3-2247-4B56-A71E-90D06E8023C4}" dt="2022-10-04T21:47:15.532" v="1087" actId="1076"/>
          <ac:spMkLst>
            <pc:docMk/>
            <pc:sldMk cId="912736613" sldId="266"/>
            <ac:spMk id="16" creationId="{2BA1B79A-AF69-ECAD-EA85-D2BB861F6759}"/>
          </ac:spMkLst>
        </pc:spChg>
      </pc:sldChg>
      <pc:sldChg chg="modSp modAnim">
        <pc:chgData name="jesse moore" userId="c3ab7f5df9cdf3f0" providerId="LiveId" clId="{DA5900D3-2247-4B56-A71E-90D06E8023C4}" dt="2022-10-05T16:18:42.527" v="2164"/>
        <pc:sldMkLst>
          <pc:docMk/>
          <pc:sldMk cId="3580750323" sldId="268"/>
        </pc:sldMkLst>
        <pc:spChg chg="mod">
          <ac:chgData name="jesse moore" userId="c3ab7f5df9cdf3f0" providerId="LiveId" clId="{DA5900D3-2247-4B56-A71E-90D06E8023C4}" dt="2022-10-04T22:11:14.572" v="1181" actId="20577"/>
          <ac:spMkLst>
            <pc:docMk/>
            <pc:sldMk cId="3580750323" sldId="268"/>
            <ac:spMk id="11" creationId="{F00B70B3-8509-9AAD-E6E8-1CD7F171B322}"/>
          </ac:spMkLst>
        </pc:spChg>
      </pc:sldChg>
      <pc:sldChg chg="addSp delSp modSp mod modAnim modShow modNotesTx">
        <pc:chgData name="jesse moore" userId="c3ab7f5df9cdf3f0" providerId="LiveId" clId="{DA5900D3-2247-4B56-A71E-90D06E8023C4}" dt="2022-10-04T21:37:56.067" v="859"/>
        <pc:sldMkLst>
          <pc:docMk/>
          <pc:sldMk cId="713007192" sldId="269"/>
        </pc:sldMkLst>
        <pc:spChg chg="add mod">
          <ac:chgData name="jesse moore" userId="c3ab7f5df9cdf3f0" providerId="LiveId" clId="{DA5900D3-2247-4B56-A71E-90D06E8023C4}" dt="2022-10-04T21:20:46.022" v="776" actId="113"/>
          <ac:spMkLst>
            <pc:docMk/>
            <pc:sldMk cId="713007192" sldId="269"/>
            <ac:spMk id="13" creationId="{C60EA75D-CB41-93E6-EAFA-4C1FBF816CF3}"/>
          </ac:spMkLst>
        </pc:spChg>
        <pc:picChg chg="del mod">
          <ac:chgData name="jesse moore" userId="c3ab7f5df9cdf3f0" providerId="LiveId" clId="{DA5900D3-2247-4B56-A71E-90D06E8023C4}" dt="2022-10-04T21:18:51.830" v="770" actId="478"/>
          <ac:picMkLst>
            <pc:docMk/>
            <pc:sldMk cId="713007192" sldId="269"/>
            <ac:picMk id="9" creationId="{93B29EE8-870A-EBDD-1F99-FACE160A5063}"/>
          </ac:picMkLst>
        </pc:picChg>
        <pc:picChg chg="add mod">
          <ac:chgData name="jesse moore" userId="c3ab7f5df9cdf3f0" providerId="LiveId" clId="{DA5900D3-2247-4B56-A71E-90D06E8023C4}" dt="2022-10-04T21:18:56.442" v="771" actId="1076"/>
          <ac:picMkLst>
            <pc:docMk/>
            <pc:sldMk cId="713007192" sldId="269"/>
            <ac:picMk id="12" creationId="{D91A7B17-C4FA-689D-95A0-D271522BDD3D}"/>
          </ac:picMkLst>
        </pc:picChg>
      </pc:sldChg>
      <pc:sldChg chg="addSp delSp modSp mod modAnim modNotesTx">
        <pc:chgData name="jesse moore" userId="c3ab7f5df9cdf3f0" providerId="LiveId" clId="{DA5900D3-2247-4B56-A71E-90D06E8023C4}" dt="2022-10-04T23:31:28.850" v="1755" actId="113"/>
        <pc:sldMkLst>
          <pc:docMk/>
          <pc:sldMk cId="3413888126" sldId="273"/>
        </pc:sldMkLst>
        <pc:spChg chg="mod">
          <ac:chgData name="jesse moore" userId="c3ab7f5df9cdf3f0" providerId="LiveId" clId="{DA5900D3-2247-4B56-A71E-90D06E8023C4}" dt="2022-10-04T23:27:52.669" v="1670" actId="113"/>
          <ac:spMkLst>
            <pc:docMk/>
            <pc:sldMk cId="3413888126" sldId="273"/>
            <ac:spMk id="3" creationId="{C71E8B16-A441-A23E-8E28-C3636E37F77F}"/>
          </ac:spMkLst>
        </pc:spChg>
        <pc:spChg chg="mod">
          <ac:chgData name="jesse moore" userId="c3ab7f5df9cdf3f0" providerId="LiveId" clId="{DA5900D3-2247-4B56-A71E-90D06E8023C4}" dt="2022-10-04T23:27:49.528" v="1669" actId="1076"/>
          <ac:spMkLst>
            <pc:docMk/>
            <pc:sldMk cId="3413888126" sldId="273"/>
            <ac:spMk id="4" creationId="{7AD8FA58-6D7A-2C58-B7F7-E2B9D3A9AD85}"/>
          </ac:spMkLst>
        </pc:spChg>
        <pc:spChg chg="add mod">
          <ac:chgData name="jesse moore" userId="c3ab7f5df9cdf3f0" providerId="LiveId" clId="{DA5900D3-2247-4B56-A71E-90D06E8023C4}" dt="2022-10-04T23:26:50.266" v="1658" actId="21"/>
          <ac:spMkLst>
            <pc:docMk/>
            <pc:sldMk cId="3413888126" sldId="273"/>
            <ac:spMk id="13" creationId="{CB3BB4CA-9DA7-29B7-0BB3-4EAC344B9176}"/>
          </ac:spMkLst>
        </pc:spChg>
        <pc:spChg chg="add del mod">
          <ac:chgData name="jesse moore" userId="c3ab7f5df9cdf3f0" providerId="LiveId" clId="{DA5900D3-2247-4B56-A71E-90D06E8023C4}" dt="2022-10-04T22:14:12.247" v="1195"/>
          <ac:spMkLst>
            <pc:docMk/>
            <pc:sldMk cId="3413888126" sldId="273"/>
            <ac:spMk id="15" creationId="{104F4BA4-23AA-E066-1D9C-0949A10B1A02}"/>
          </ac:spMkLst>
        </pc:spChg>
        <pc:spChg chg="mod">
          <ac:chgData name="jesse moore" userId="c3ab7f5df9cdf3f0" providerId="LiveId" clId="{DA5900D3-2247-4B56-A71E-90D06E8023C4}" dt="2022-10-04T23:30:25.597" v="1742" actId="20577"/>
          <ac:spMkLst>
            <pc:docMk/>
            <pc:sldMk cId="3413888126" sldId="273"/>
            <ac:spMk id="22" creationId="{F6E6D7B9-F486-8606-6E5B-3AFE071362F3}"/>
          </ac:spMkLst>
        </pc:spChg>
        <pc:spChg chg="mod">
          <ac:chgData name="jesse moore" userId="c3ab7f5df9cdf3f0" providerId="LiveId" clId="{DA5900D3-2247-4B56-A71E-90D06E8023C4}" dt="2022-10-04T22:08:42.291" v="1163" actId="113"/>
          <ac:spMkLst>
            <pc:docMk/>
            <pc:sldMk cId="3413888126" sldId="273"/>
            <ac:spMk id="24" creationId="{E7C2F194-C1A5-2DD8-EE3F-12DB790B0CE6}"/>
          </ac:spMkLst>
        </pc:spChg>
        <pc:spChg chg="mod">
          <ac:chgData name="jesse moore" userId="c3ab7f5df9cdf3f0" providerId="LiveId" clId="{DA5900D3-2247-4B56-A71E-90D06E8023C4}" dt="2022-10-04T23:31:28.850" v="1755" actId="113"/>
          <ac:spMkLst>
            <pc:docMk/>
            <pc:sldMk cId="3413888126" sldId="273"/>
            <ac:spMk id="28" creationId="{6A6B78B3-1C32-C43E-19B1-9EE6F438E982}"/>
          </ac:spMkLst>
        </pc:spChg>
        <pc:spChg chg="mod">
          <ac:chgData name="jesse moore" userId="c3ab7f5df9cdf3f0" providerId="LiveId" clId="{DA5900D3-2247-4B56-A71E-90D06E8023C4}" dt="2022-10-04T23:31:04.675" v="1743" actId="1076"/>
          <ac:spMkLst>
            <pc:docMk/>
            <pc:sldMk cId="3413888126" sldId="273"/>
            <ac:spMk id="30" creationId="{C235B0A1-80F8-5457-AECA-37FBB902F358}"/>
          </ac:spMkLst>
        </pc:spChg>
      </pc:sldChg>
      <pc:sldChg chg="addSp delSp modSp mod">
        <pc:chgData name="jesse moore" userId="c3ab7f5df9cdf3f0" providerId="LiveId" clId="{DA5900D3-2247-4B56-A71E-90D06E8023C4}" dt="2022-10-05T15:39:19.958" v="2056" actId="14100"/>
        <pc:sldMkLst>
          <pc:docMk/>
          <pc:sldMk cId="257860690" sldId="276"/>
        </pc:sldMkLst>
        <pc:spChg chg="mod">
          <ac:chgData name="jesse moore" userId="c3ab7f5df9cdf3f0" providerId="LiveId" clId="{DA5900D3-2247-4B56-A71E-90D06E8023C4}" dt="2022-10-05T15:39:19.958" v="2056" actId="14100"/>
          <ac:spMkLst>
            <pc:docMk/>
            <pc:sldMk cId="257860690" sldId="276"/>
            <ac:spMk id="2" creationId="{E08D3033-5BE4-7912-9BA8-5E264077BF21}"/>
          </ac:spMkLst>
        </pc:spChg>
        <pc:spChg chg="ord">
          <ac:chgData name="jesse moore" userId="c3ab7f5df9cdf3f0" providerId="LiveId" clId="{DA5900D3-2247-4B56-A71E-90D06E8023C4}" dt="2022-10-04T21:56:25.614" v="1104" actId="166"/>
          <ac:spMkLst>
            <pc:docMk/>
            <pc:sldMk cId="257860690" sldId="276"/>
            <ac:spMk id="8" creationId="{91307DE6-D93E-114E-19F2-549BFD04D615}"/>
          </ac:spMkLst>
        </pc:spChg>
        <pc:picChg chg="del">
          <ac:chgData name="jesse moore" userId="c3ab7f5df9cdf3f0" providerId="LiveId" clId="{DA5900D3-2247-4B56-A71E-90D06E8023C4}" dt="2022-10-04T21:56:17.312" v="1101" actId="478"/>
          <ac:picMkLst>
            <pc:docMk/>
            <pc:sldMk cId="257860690" sldId="276"/>
            <ac:picMk id="7" creationId="{7EB5E73D-3ECF-867E-6FA9-56A7AD9CEE4A}"/>
          </ac:picMkLst>
        </pc:picChg>
        <pc:picChg chg="add mod">
          <ac:chgData name="jesse moore" userId="c3ab7f5df9cdf3f0" providerId="LiveId" clId="{DA5900D3-2247-4B56-A71E-90D06E8023C4}" dt="2022-10-04T21:56:48.944" v="1113" actId="1076"/>
          <ac:picMkLst>
            <pc:docMk/>
            <pc:sldMk cId="257860690" sldId="276"/>
            <ac:picMk id="10" creationId="{F0E34E4D-ADA3-91F9-A517-CF4AB7FFCDFA}"/>
          </ac:picMkLst>
        </pc:picChg>
      </pc:sldChg>
      <pc:sldChg chg="addSp delSp modSp mod setBg modAnim">
        <pc:chgData name="jesse moore" userId="c3ab7f5df9cdf3f0" providerId="LiveId" clId="{DA5900D3-2247-4B56-A71E-90D06E8023C4}" dt="2022-10-05T15:49:16.123" v="2144" actId="1076"/>
        <pc:sldMkLst>
          <pc:docMk/>
          <pc:sldMk cId="4195872523" sldId="280"/>
        </pc:sldMkLst>
        <pc:spChg chg="mod">
          <ac:chgData name="jesse moore" userId="c3ab7f5df9cdf3f0" providerId="LiveId" clId="{DA5900D3-2247-4B56-A71E-90D06E8023C4}" dt="2022-10-05T15:49:01.335" v="2142" actId="20577"/>
          <ac:spMkLst>
            <pc:docMk/>
            <pc:sldMk cId="4195872523" sldId="280"/>
            <ac:spMk id="2" creationId="{97585147-01EC-09A3-8641-333D5CEEA4A3}"/>
          </ac:spMkLst>
        </pc:spChg>
        <pc:spChg chg="add del mod">
          <ac:chgData name="jesse moore" userId="c3ab7f5df9cdf3f0" providerId="LiveId" clId="{DA5900D3-2247-4B56-A71E-90D06E8023C4}" dt="2022-10-05T15:47:52.337" v="2083" actId="478"/>
          <ac:spMkLst>
            <pc:docMk/>
            <pc:sldMk cId="4195872523" sldId="280"/>
            <ac:spMk id="7" creationId="{D19DD414-47B9-B649-208B-CB2795680847}"/>
          </ac:spMkLst>
        </pc:spChg>
        <pc:spChg chg="add del">
          <ac:chgData name="jesse moore" userId="c3ab7f5df9cdf3f0" providerId="LiveId" clId="{DA5900D3-2247-4B56-A71E-90D06E8023C4}" dt="2022-10-05T15:48:03.099" v="2087" actId="26606"/>
          <ac:spMkLst>
            <pc:docMk/>
            <pc:sldMk cId="4195872523" sldId="280"/>
            <ac:spMk id="15" creationId="{F7689D68-C339-4D5B-9DAA-E13F6BD4D575}"/>
          </ac:spMkLst>
        </pc:spChg>
        <pc:spChg chg="add del">
          <ac:chgData name="jesse moore" userId="c3ab7f5df9cdf3f0" providerId="LiveId" clId="{DA5900D3-2247-4B56-A71E-90D06E8023C4}" dt="2022-10-05T15:48:03.099" v="2087" actId="26606"/>
          <ac:spMkLst>
            <pc:docMk/>
            <pc:sldMk cId="4195872523" sldId="280"/>
            <ac:spMk id="17" creationId="{17B0AFA9-CBCD-48FC-A08A-EAE9549150DA}"/>
          </ac:spMkLst>
        </pc:spChg>
        <pc:spChg chg="add del">
          <ac:chgData name="jesse moore" userId="c3ab7f5df9cdf3f0" providerId="LiveId" clId="{DA5900D3-2247-4B56-A71E-90D06E8023C4}" dt="2022-10-05T15:48:04.703" v="2089" actId="26606"/>
          <ac:spMkLst>
            <pc:docMk/>
            <pc:sldMk cId="4195872523" sldId="280"/>
            <ac:spMk id="20" creationId="{F7689D68-C339-4D5B-9DAA-E13F6BD4D575}"/>
          </ac:spMkLst>
        </pc:spChg>
        <pc:spChg chg="add del">
          <ac:chgData name="jesse moore" userId="c3ab7f5df9cdf3f0" providerId="LiveId" clId="{DA5900D3-2247-4B56-A71E-90D06E8023C4}" dt="2022-10-05T15:48:04.703" v="2089" actId="26606"/>
          <ac:spMkLst>
            <pc:docMk/>
            <pc:sldMk cId="4195872523" sldId="280"/>
            <ac:spMk id="21" creationId="{2CE4F249-AC71-406E-8410-03E1C8809E6D}"/>
          </ac:spMkLst>
        </pc:spChg>
        <pc:spChg chg="add del">
          <ac:chgData name="jesse moore" userId="c3ab7f5df9cdf3f0" providerId="LiveId" clId="{DA5900D3-2247-4B56-A71E-90D06E8023C4}" dt="2022-10-05T15:48:06.360" v="2091" actId="26606"/>
          <ac:spMkLst>
            <pc:docMk/>
            <pc:sldMk cId="4195872523" sldId="280"/>
            <ac:spMk id="24" creationId="{F7689D68-C339-4D5B-9DAA-E13F6BD4D575}"/>
          </ac:spMkLst>
        </pc:spChg>
        <pc:grpChg chg="add del">
          <ac:chgData name="jesse moore" userId="c3ab7f5df9cdf3f0" providerId="LiveId" clId="{DA5900D3-2247-4B56-A71E-90D06E8023C4}" dt="2022-10-05T15:48:03.099" v="2087" actId="26606"/>
          <ac:grpSpMkLst>
            <pc:docMk/>
            <pc:sldMk cId="4195872523" sldId="280"/>
            <ac:grpSpMk id="11" creationId="{EED2E2BB-3846-41EB-9F1E-92C33C4A8F46}"/>
          </ac:grpSpMkLst>
        </pc:grpChg>
        <pc:grpChg chg="add del">
          <ac:chgData name="jesse moore" userId="c3ab7f5df9cdf3f0" providerId="LiveId" clId="{DA5900D3-2247-4B56-A71E-90D06E8023C4}" dt="2022-10-05T15:48:04.703" v="2089" actId="26606"/>
          <ac:grpSpMkLst>
            <pc:docMk/>
            <pc:sldMk cId="4195872523" sldId="280"/>
            <ac:grpSpMk id="19" creationId="{EED2E2BB-3846-41EB-9F1E-92C33C4A8F46}"/>
          </ac:grpSpMkLst>
        </pc:grpChg>
        <pc:grpChg chg="add del">
          <ac:chgData name="jesse moore" userId="c3ab7f5df9cdf3f0" providerId="LiveId" clId="{DA5900D3-2247-4B56-A71E-90D06E8023C4}" dt="2022-10-05T15:48:06.360" v="2091" actId="26606"/>
          <ac:grpSpMkLst>
            <pc:docMk/>
            <pc:sldMk cId="4195872523" sldId="280"/>
            <ac:grpSpMk id="23" creationId="{EED2E2BB-3846-41EB-9F1E-92C33C4A8F46}"/>
          </ac:grpSpMkLst>
        </pc:grpChg>
        <pc:grpChg chg="add del">
          <ac:chgData name="jesse moore" userId="c3ab7f5df9cdf3f0" providerId="LiveId" clId="{DA5900D3-2247-4B56-A71E-90D06E8023C4}" dt="2022-10-05T15:48:06.360" v="2091" actId="26606"/>
          <ac:grpSpMkLst>
            <pc:docMk/>
            <pc:sldMk cId="4195872523" sldId="280"/>
            <ac:grpSpMk id="25" creationId="{C8F821F4-B6DB-4EC4-B2F4-CCC64AB812FE}"/>
          </ac:grpSpMkLst>
        </pc:grpChg>
        <pc:picChg chg="add mod ord">
          <ac:chgData name="jesse moore" userId="c3ab7f5df9cdf3f0" providerId="LiveId" clId="{DA5900D3-2247-4B56-A71E-90D06E8023C4}" dt="2022-10-05T15:49:16.123" v="2144" actId="1076"/>
          <ac:picMkLst>
            <pc:docMk/>
            <pc:sldMk cId="4195872523" sldId="280"/>
            <ac:picMk id="4" creationId="{38B49AB6-9BD7-8286-0E4C-757FD9B6BDD3}"/>
          </ac:picMkLst>
        </pc:picChg>
        <pc:picChg chg="add mod">
          <ac:chgData name="jesse moore" userId="c3ab7f5df9cdf3f0" providerId="LiveId" clId="{DA5900D3-2247-4B56-A71E-90D06E8023C4}" dt="2022-10-05T15:49:11.868" v="2143" actId="1076"/>
          <ac:picMkLst>
            <pc:docMk/>
            <pc:sldMk cId="4195872523" sldId="280"/>
            <ac:picMk id="6" creationId="{847DF141-BD87-2E45-759C-8482418F68A1}"/>
          </ac:picMkLst>
        </pc:picChg>
        <pc:picChg chg="del mod">
          <ac:chgData name="jesse moore" userId="c3ab7f5df9cdf3f0" providerId="LiveId" clId="{DA5900D3-2247-4B56-A71E-90D06E8023C4}" dt="2022-10-05T15:47:44.625" v="2080" actId="478"/>
          <ac:picMkLst>
            <pc:docMk/>
            <pc:sldMk cId="4195872523" sldId="280"/>
            <ac:picMk id="1026" creationId="{0A87C70C-1CD7-2346-ED7D-6941C6E02B3B}"/>
          </ac:picMkLst>
        </pc:picChg>
      </pc:sldChg>
      <pc:sldChg chg="addSp delSp modSp mod delAnim modNotesTx">
        <pc:chgData name="jesse moore" userId="c3ab7f5df9cdf3f0" providerId="LiveId" clId="{DA5900D3-2247-4B56-A71E-90D06E8023C4}" dt="2022-10-04T21:04:01.701" v="748"/>
        <pc:sldMkLst>
          <pc:docMk/>
          <pc:sldMk cId="2636325253" sldId="281"/>
        </pc:sldMkLst>
        <pc:spChg chg="mod">
          <ac:chgData name="jesse moore" userId="c3ab7f5df9cdf3f0" providerId="LiveId" clId="{DA5900D3-2247-4B56-A71E-90D06E8023C4}" dt="2022-10-04T20:48:52.611" v="615" actId="20577"/>
          <ac:spMkLst>
            <pc:docMk/>
            <pc:sldMk cId="2636325253" sldId="281"/>
            <ac:spMk id="2" creationId="{E08D3033-5BE4-7912-9BA8-5E264077BF21}"/>
          </ac:spMkLst>
        </pc:spChg>
        <pc:spChg chg="mod ord">
          <ac:chgData name="jesse moore" userId="c3ab7f5df9cdf3f0" providerId="LiveId" clId="{DA5900D3-2247-4B56-A71E-90D06E8023C4}" dt="2022-10-04T20:57:38.831" v="660" actId="1076"/>
          <ac:spMkLst>
            <pc:docMk/>
            <pc:sldMk cId="2636325253" sldId="281"/>
            <ac:spMk id="4" creationId="{BA747944-5A35-8D64-46FE-2A0015C1717C}"/>
          </ac:spMkLst>
        </pc:spChg>
        <pc:picChg chg="del">
          <ac:chgData name="jesse moore" userId="c3ab7f5df9cdf3f0" providerId="LiveId" clId="{DA5900D3-2247-4B56-A71E-90D06E8023C4}" dt="2022-10-04T20:47:27.095" v="552" actId="478"/>
          <ac:picMkLst>
            <pc:docMk/>
            <pc:sldMk cId="2636325253" sldId="281"/>
            <ac:picMk id="3" creationId="{14EBDDCB-E5F4-67A1-DDA3-92F33C054DFA}"/>
          </ac:picMkLst>
        </pc:picChg>
        <pc:picChg chg="add del mod">
          <ac:chgData name="jesse moore" userId="c3ab7f5df9cdf3f0" providerId="LiveId" clId="{DA5900D3-2247-4B56-A71E-90D06E8023C4}" dt="2022-10-04T20:53:57.573" v="645" actId="478"/>
          <ac:picMkLst>
            <pc:docMk/>
            <pc:sldMk cId="2636325253" sldId="281"/>
            <ac:picMk id="6" creationId="{B0DBEFB2-B1FA-7580-F946-6004E421F0B3}"/>
          </ac:picMkLst>
        </pc:picChg>
        <pc:picChg chg="add del mod">
          <ac:chgData name="jesse moore" userId="c3ab7f5df9cdf3f0" providerId="LiveId" clId="{DA5900D3-2247-4B56-A71E-90D06E8023C4}" dt="2022-10-04T20:55:34.936" v="648" actId="478"/>
          <ac:picMkLst>
            <pc:docMk/>
            <pc:sldMk cId="2636325253" sldId="281"/>
            <ac:picMk id="8" creationId="{9228F5D1-F01A-1247-E1B7-587955C0364A}"/>
          </ac:picMkLst>
        </pc:picChg>
        <pc:picChg chg="add del mod">
          <ac:chgData name="jesse moore" userId="c3ab7f5df9cdf3f0" providerId="LiveId" clId="{DA5900D3-2247-4B56-A71E-90D06E8023C4}" dt="2022-10-04T20:57:23.724" v="655" actId="478"/>
          <ac:picMkLst>
            <pc:docMk/>
            <pc:sldMk cId="2636325253" sldId="281"/>
            <ac:picMk id="10" creationId="{7CE430A3-F794-1D23-292A-067317F56E2A}"/>
          </ac:picMkLst>
        </pc:picChg>
        <pc:picChg chg="add mod">
          <ac:chgData name="jesse moore" userId="c3ab7f5df9cdf3f0" providerId="LiveId" clId="{DA5900D3-2247-4B56-A71E-90D06E8023C4}" dt="2022-10-04T20:57:34.369" v="659" actId="1076"/>
          <ac:picMkLst>
            <pc:docMk/>
            <pc:sldMk cId="2636325253" sldId="281"/>
            <ac:picMk id="12" creationId="{92BAAC25-BC92-CF16-6BF4-B5BC0610C4EE}"/>
          </ac:picMkLst>
        </pc:picChg>
      </pc:sldChg>
      <pc:sldChg chg="addSp delSp modSp mod delAnim modAnim modNotesTx">
        <pc:chgData name="jesse moore" userId="c3ab7f5df9cdf3f0" providerId="LiveId" clId="{DA5900D3-2247-4B56-A71E-90D06E8023C4}" dt="2022-10-05T15:18:15.639" v="1899" actId="20577"/>
        <pc:sldMkLst>
          <pc:docMk/>
          <pc:sldMk cId="2424475302" sldId="286"/>
        </pc:sldMkLst>
        <pc:spChg chg="mod">
          <ac:chgData name="jesse moore" userId="c3ab7f5df9cdf3f0" providerId="LiveId" clId="{DA5900D3-2247-4B56-A71E-90D06E8023C4}" dt="2022-10-05T15:18:15.639" v="1899" actId="20577"/>
          <ac:spMkLst>
            <pc:docMk/>
            <pc:sldMk cId="2424475302" sldId="286"/>
            <ac:spMk id="2" creationId="{16005B15-D6C6-0B86-D9B9-146DA578CAA3}"/>
          </ac:spMkLst>
        </pc:spChg>
        <pc:spChg chg="add mod ord">
          <ac:chgData name="jesse moore" userId="c3ab7f5df9cdf3f0" providerId="LiveId" clId="{DA5900D3-2247-4B56-A71E-90D06E8023C4}" dt="2022-10-05T15:15:58.211" v="1875" actId="166"/>
          <ac:spMkLst>
            <pc:docMk/>
            <pc:sldMk cId="2424475302" sldId="286"/>
            <ac:spMk id="16" creationId="{1389B8A0-1104-5D0C-D9BE-CF2012F0779B}"/>
          </ac:spMkLst>
        </pc:spChg>
        <pc:picChg chg="mod">
          <ac:chgData name="jesse moore" userId="c3ab7f5df9cdf3f0" providerId="LiveId" clId="{DA5900D3-2247-4B56-A71E-90D06E8023C4}" dt="2022-10-05T15:16:44.820" v="1881" actId="1076"/>
          <ac:picMkLst>
            <pc:docMk/>
            <pc:sldMk cId="2424475302" sldId="286"/>
            <ac:picMk id="5" creationId="{EA3F6804-2677-623D-80DC-9FEE935E86B6}"/>
          </ac:picMkLst>
        </pc:picChg>
        <pc:picChg chg="del mod">
          <ac:chgData name="jesse moore" userId="c3ab7f5df9cdf3f0" providerId="LiveId" clId="{DA5900D3-2247-4B56-A71E-90D06E8023C4}" dt="2022-10-05T15:15:41.234" v="1870" actId="478"/>
          <ac:picMkLst>
            <pc:docMk/>
            <pc:sldMk cId="2424475302" sldId="286"/>
            <ac:picMk id="14" creationId="{DE1A0D50-A82E-458A-3A7F-002A1FDA7C15}"/>
          </ac:picMkLst>
        </pc:picChg>
        <pc:picChg chg="add mod">
          <ac:chgData name="jesse moore" userId="c3ab7f5df9cdf3f0" providerId="LiveId" clId="{DA5900D3-2247-4B56-A71E-90D06E8023C4}" dt="2022-10-05T15:16:58.351" v="1884" actId="1076"/>
          <ac:picMkLst>
            <pc:docMk/>
            <pc:sldMk cId="2424475302" sldId="286"/>
            <ac:picMk id="20" creationId="{CC0AB9D9-C869-FF2B-01CD-B14CE9EF64BB}"/>
          </ac:picMkLst>
        </pc:picChg>
      </pc:sldChg>
      <pc:sldChg chg="addSp modSp mod modAnim">
        <pc:chgData name="jesse moore" userId="c3ab7f5df9cdf3f0" providerId="LiveId" clId="{DA5900D3-2247-4B56-A71E-90D06E8023C4}" dt="2022-10-05T15:56:39.431" v="2157"/>
        <pc:sldMkLst>
          <pc:docMk/>
          <pc:sldMk cId="3389471629" sldId="287"/>
        </pc:sldMkLst>
        <pc:spChg chg="mod">
          <ac:chgData name="jesse moore" userId="c3ab7f5df9cdf3f0" providerId="LiveId" clId="{DA5900D3-2247-4B56-A71E-90D06E8023C4}" dt="2022-10-05T15:54:18.912" v="2147" actId="1076"/>
          <ac:spMkLst>
            <pc:docMk/>
            <pc:sldMk cId="3389471629" sldId="287"/>
            <ac:spMk id="11" creationId="{280FDB18-58B6-BC38-5ADD-AF04B36C8CB4}"/>
          </ac:spMkLst>
        </pc:spChg>
        <pc:spChg chg="add mod">
          <ac:chgData name="jesse moore" userId="c3ab7f5df9cdf3f0" providerId="LiveId" clId="{DA5900D3-2247-4B56-A71E-90D06E8023C4}" dt="2022-10-05T15:56:08.751" v="2152" actId="1076"/>
          <ac:spMkLst>
            <pc:docMk/>
            <pc:sldMk cId="3389471629" sldId="287"/>
            <ac:spMk id="12" creationId="{552CA3D9-A42E-B1E8-2269-1329C3FD6927}"/>
          </ac:spMkLst>
        </pc:spChg>
      </pc:sldChg>
      <pc:sldChg chg="mod modShow">
        <pc:chgData name="jesse moore" userId="c3ab7f5df9cdf3f0" providerId="LiveId" clId="{DA5900D3-2247-4B56-A71E-90D06E8023C4}" dt="2022-10-05T15:53:23.058" v="2145" actId="729"/>
        <pc:sldMkLst>
          <pc:docMk/>
          <pc:sldMk cId="1807081362" sldId="288"/>
        </pc:sldMkLst>
      </pc:sldChg>
      <pc:sldChg chg="modSp">
        <pc:chgData name="jesse moore" userId="c3ab7f5df9cdf3f0" providerId="LiveId" clId="{DA5900D3-2247-4B56-A71E-90D06E8023C4}" dt="2022-10-05T15:38:42.059" v="2029" actId="20577"/>
        <pc:sldMkLst>
          <pc:docMk/>
          <pc:sldMk cId="1940880850" sldId="289"/>
        </pc:sldMkLst>
        <pc:spChg chg="mod">
          <ac:chgData name="jesse moore" userId="c3ab7f5df9cdf3f0" providerId="LiveId" clId="{DA5900D3-2247-4B56-A71E-90D06E8023C4}" dt="2022-10-05T15:38:42.059" v="2029" actId="20577"/>
          <ac:spMkLst>
            <pc:docMk/>
            <pc:sldMk cId="1940880850" sldId="289"/>
            <ac:spMk id="7" creationId="{F28B3764-4175-46BE-924C-8F189854753D}"/>
          </ac:spMkLst>
        </pc:spChg>
      </pc:sldChg>
      <pc:sldChg chg="addSp delSp modSp new mod ord modAnim modNotesTx">
        <pc:chgData name="jesse moore" userId="c3ab7f5df9cdf3f0" providerId="LiveId" clId="{DA5900D3-2247-4B56-A71E-90D06E8023C4}" dt="2022-10-05T15:37:41.163" v="1997" actId="20577"/>
        <pc:sldMkLst>
          <pc:docMk/>
          <pc:sldMk cId="207677386" sldId="291"/>
        </pc:sldMkLst>
        <pc:spChg chg="mod">
          <ac:chgData name="jesse moore" userId="c3ab7f5df9cdf3f0" providerId="LiveId" clId="{DA5900D3-2247-4B56-A71E-90D06E8023C4}" dt="2022-10-04T22:37:37.069" v="1590" actId="5793"/>
          <ac:spMkLst>
            <pc:docMk/>
            <pc:sldMk cId="207677386" sldId="291"/>
            <ac:spMk id="2" creationId="{E246D281-579F-D802-6D3F-CEE0A058DBAA}"/>
          </ac:spMkLst>
        </pc:spChg>
        <pc:spChg chg="mod">
          <ac:chgData name="jesse moore" userId="c3ab7f5df9cdf3f0" providerId="LiveId" clId="{DA5900D3-2247-4B56-A71E-90D06E8023C4}" dt="2022-10-05T15:36:41.049" v="1968" actId="20577"/>
          <ac:spMkLst>
            <pc:docMk/>
            <pc:sldMk cId="207677386" sldId="291"/>
            <ac:spMk id="3" creationId="{5D357761-9B0C-3D07-7FC1-CC8D180E0F3E}"/>
          </ac:spMkLst>
        </pc:spChg>
        <pc:spChg chg="add mod">
          <ac:chgData name="jesse moore" userId="c3ab7f5df9cdf3f0" providerId="LiveId" clId="{DA5900D3-2247-4B56-A71E-90D06E8023C4}" dt="2022-10-05T15:37:08.706" v="1980" actId="20577"/>
          <ac:spMkLst>
            <pc:docMk/>
            <pc:sldMk cId="207677386" sldId="291"/>
            <ac:spMk id="4" creationId="{4B538B87-DF31-2142-C3A1-DAB6BE3FA5C6}"/>
          </ac:spMkLst>
        </pc:spChg>
        <pc:spChg chg="add mod">
          <ac:chgData name="jesse moore" userId="c3ab7f5df9cdf3f0" providerId="LiveId" clId="{DA5900D3-2247-4B56-A71E-90D06E8023C4}" dt="2022-10-05T15:37:41.163" v="1997" actId="20577"/>
          <ac:spMkLst>
            <pc:docMk/>
            <pc:sldMk cId="207677386" sldId="291"/>
            <ac:spMk id="5" creationId="{D98796F9-C4C1-2B1F-E089-2986B20485F5}"/>
          </ac:spMkLst>
        </pc:spChg>
        <pc:spChg chg="add del mod">
          <ac:chgData name="jesse moore" userId="c3ab7f5df9cdf3f0" providerId="LiveId" clId="{DA5900D3-2247-4B56-A71E-90D06E8023C4}" dt="2022-10-04T22:40:35.719" v="1598"/>
          <ac:spMkLst>
            <pc:docMk/>
            <pc:sldMk cId="207677386" sldId="291"/>
            <ac:spMk id="6" creationId="{E2A221FA-69D0-C70F-569D-0248E0B13DAD}"/>
          </ac:spMkLst>
        </pc:spChg>
        <pc:spChg chg="add mod">
          <ac:chgData name="jesse moore" userId="c3ab7f5df9cdf3f0" providerId="LiveId" clId="{DA5900D3-2247-4B56-A71E-90D06E8023C4}" dt="2022-10-04T23:38:48.174" v="1812" actId="14100"/>
          <ac:spMkLst>
            <pc:docMk/>
            <pc:sldMk cId="207677386" sldId="291"/>
            <ac:spMk id="7" creationId="{A05FDB87-6CA4-3ED5-A4BA-E32662B2AA5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F678C6-3FDF-3647-893E-10EC76EEC4DF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5F3E3-E4A3-B743-B9A9-6B71BA371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9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PLm37YWcV9dAwEAPx5p71aL2DtW3wJBzwRfMjdetcwQ/edit?usp=sharing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verizon.com/business/resources/reports/2022/dbir/2022-data-breach-investigations-report-dbir.pdf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a.gov/uscert/ncas/current-activity/2022/02/18/cisa-compiles-free-cybersecurity-services-and-tools-network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SANSInstitute/status/1263825718024310784/photo/1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hodan.io/search?query=asn%3Aas14221%2Cas73%2Cas64247%2Cas22972%2Cas101" TargetMode="External"/><Relationship Id="rId3" Type="http://schemas.openxmlformats.org/officeDocument/2006/relationships/hyperlink" Target="https://itconnect.uw.edu/uware/sophos-central/" TargetMode="External"/><Relationship Id="rId7" Type="http://schemas.openxmlformats.org/officeDocument/2006/relationships/hyperlink" Target="https://bluepurple.substack.com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cisa.gov/uscert/ncas/bulletins/sb22-234" TargetMode="External"/><Relationship Id="rId11" Type="http://schemas.openxmlformats.org/officeDocument/2006/relationships/hyperlink" Target="https://github.com/FuzzySecurity/WWHF-WayWest-2022/tree/fba2475d2f8dc7b7999cc5994ac340ca1db62090" TargetMode="External"/><Relationship Id="rId5" Type="http://schemas.openxmlformats.org/officeDocument/2006/relationships/hyperlink" Target="https://krebsonsecurity.com/category/patches/" TargetMode="External"/><Relationship Id="rId10" Type="http://schemas.openxmlformats.org/officeDocument/2006/relationships/hyperlink" Target="https://holisticinfosec.blogspot.com/2016/12/the-dfir-hierarchy-of-needs-critical.html" TargetMode="External"/><Relationship Id="rId4" Type="http://schemas.openxmlformats.org/officeDocument/2006/relationships/hyperlink" Target="https://www.cisecurity.org/insights/blog/end-of-support-software-report-list" TargetMode="External"/><Relationship Id="rId9" Type="http://schemas.openxmlformats.org/officeDocument/2006/relationships/hyperlink" Target="https://search.censys.io/search?resource=hosts&amp;sort=RELEVANCE&amp;per_page=25&amp;virtual_hosts=EXCLUDE&amp;q=140.142.0.0%2F16+OR+128.208.0.0%2F16+OR+128.95.0.0%2F16+OR+69.91.128.0%2F17+OR+173.250.128.0%2F17+OR+108.179.128.0%2F18+OR+108.179.128.0%2F18+OR+198.48.64.0%2F19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lence-is-best/files/blob/main/translate_f.pdf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attack.mitre.org/groups/" TargetMode="External"/><Relationship Id="rId5" Type="http://schemas.openxmlformats.org/officeDocument/2006/relationships/hyperlink" Target="https://twitter.com/jepaynemsft/status/1255991971845308416" TargetMode="External"/><Relationship Id="rId4" Type="http://schemas.openxmlformats.org/officeDocument/2006/relationships/hyperlink" Target="https://securelist.com/modern-ransomware-groups-ttps/106824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k-dPXV5k8SEtiTgi9wgxmDS0CCZQur6H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a.gov/uscert/ncas/alerts/aa22-249a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a.gov/uscert/ncas/alerts/aa22-249a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cisecurity.org/controls/cis-controls-list" TargetMode="External"/><Relationship Id="rId4" Type="http://schemas.openxmlformats.org/officeDocument/2006/relationships/hyperlink" Target="https://thedfirreport.com/" TargetMode="Externa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ga7A2tYejE&amp;t=5s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github.com/zeronetworks/BloodHound-Tools/tree/main/Ransomulator" TargetMode="Externa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_cWWL-yyb0&amp;t=295s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security/blog/2020/04/28/ransomware-groups-continue-to-target-healthcare-critical-services-heres-how-to-reduce-risk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isecurity.org/terms-and-conditions-table-of-contents/cis-endpoint-security-services-via-crowdstrike" TargetMode="External"/><Relationship Id="rId3" Type="http://schemas.openxmlformats.org/officeDocument/2006/relationships/hyperlink" Target="https://www.cisecurity.org/insights/blog/end-of-support-software-report-list" TargetMode="External"/><Relationship Id="rId7" Type="http://schemas.openxmlformats.org/officeDocument/2006/relationships/hyperlink" Target="https://github.com/FuzzySecurity/WWHF-WayWest-2022/tree/fba2475d2f8dc7b7999cc5994ac340ca1db62090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holisticinfosec.blogspot.com/2016/12/the-dfir-hierarchy-of-needs-critical.html" TargetMode="External"/><Relationship Id="rId5" Type="http://schemas.openxmlformats.org/officeDocument/2006/relationships/hyperlink" Target="https://search.censys.io/search?resource=hosts&amp;sort=RELEVANCE&amp;per_page=25&amp;virtual_hosts=EXCLUDE&amp;q=140.142.0.0%2F16+OR+128.208.0.0%2F16+OR+128.95.0.0%2F16+OR+69.91.128.0%2F17+OR+173.250.128.0%2F17+OR+108.179.128.0%2F18+OR+108.179.128.0%2F18+OR+198.48.64.0%2F19" TargetMode="External"/><Relationship Id="rId4" Type="http://schemas.openxmlformats.org/officeDocument/2006/relationships/hyperlink" Target="https://www.shodan.io/search?query=asn%3Aas14221%2Cas73%2Cas64247%2Cas22972%2Cas101" TargetMode="Externa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hodan.io/search?query=asn%3Aas14221%2Cas73%2Cas64247%2Cas22972%2Cas101" TargetMode="External"/><Relationship Id="rId3" Type="http://schemas.openxmlformats.org/officeDocument/2006/relationships/hyperlink" Target="https://itconnect.uw.edu/uware/sophos-central/" TargetMode="External"/><Relationship Id="rId7" Type="http://schemas.openxmlformats.org/officeDocument/2006/relationships/hyperlink" Target="https://bluepurple.substack.com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cisa.gov/uscert/ncas/bulletins/sb22-234" TargetMode="External"/><Relationship Id="rId11" Type="http://schemas.openxmlformats.org/officeDocument/2006/relationships/hyperlink" Target="https://github.com/FuzzySecurity/WWHF-WayWest-2022/tree/fba2475d2f8dc7b7999cc5994ac340ca1db62090" TargetMode="External"/><Relationship Id="rId5" Type="http://schemas.openxmlformats.org/officeDocument/2006/relationships/hyperlink" Target="https://krebsonsecurity.com/category/patches/" TargetMode="External"/><Relationship Id="rId10" Type="http://schemas.openxmlformats.org/officeDocument/2006/relationships/hyperlink" Target="https://holisticinfosec.blogspot.com/2016/12/the-dfir-hierarchy-of-needs-critical.html" TargetMode="External"/><Relationship Id="rId4" Type="http://schemas.openxmlformats.org/officeDocument/2006/relationships/hyperlink" Target="https://www.cisecurity.org/insights/blog/end-of-support-software-report-list" TargetMode="External"/><Relationship Id="rId9" Type="http://schemas.openxmlformats.org/officeDocument/2006/relationships/hyperlink" Target="https://search.censys.io/search?resource=hosts&amp;sort=RELEVANCE&amp;per_page=25&amp;virtual_hosts=EXCLUDE&amp;q=140.142.0.0%2F16+OR+128.208.0.0%2F16+OR+128.95.0.0%2F16+OR+69.91.128.0%2F17+OR+173.250.128.0%2F17+OR+108.179.128.0%2F18+OR+108.179.128.0%2F18+OR+198.48.64.0%2F19" TargetMode="Externa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a.gov/uscert/ncas/alerts/aa22-277a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github.com/FuzzySecurity/WWHF-WayWest-2022" TargetMode="External"/><Relationship Id="rId4" Type="http://schemas.openxmlformats.org/officeDocument/2006/relationships/hyperlink" Target="https://www.cisa.gov/cyber-hygiene-services" TargetMode="Externa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src.nist.gov/CSRC/media/Projects/ransomware-protection-and-response/documents/NIST_Ransomware_Tips_and_Tactics_Infographic.pdf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bia.cisecurity.org/?next=/dashboard/" TargetMode="External"/><Relationship Id="rId4" Type="http://schemas.openxmlformats.org/officeDocument/2006/relationships/hyperlink" Target="https://github.com/cisagov/cset/releases/tag/v10.3.0.0" TargetMode="Externa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src.nist.gov/projects/ransomware-protection-and-response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k12six.org/essentials-series" TargetMode="External"/><Relationship Id="rId5" Type="http://schemas.openxmlformats.org/officeDocument/2006/relationships/hyperlink" Target="https://twitter.com/aprilmardock/status/1567316804112109568?s=20&amp;t=GIavTIJT-gqt8cxUkTt6bQ" TargetMode="External"/><Relationship Id="rId4" Type="http://schemas.openxmlformats.org/officeDocument/2006/relationships/hyperlink" Target="https://www.youtube.com/watch?v=ELbvQTl4xmU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 panose="020F0502020204030204"/>
              </a:rPr>
              <a:t>Spreadsheet of Tools/Projects:</a:t>
            </a:r>
          </a:p>
          <a:p>
            <a:r>
              <a:rPr lang="en-US" dirty="0">
                <a:hlinkClick r:id="rId3"/>
              </a:rPr>
              <a:t>https://docs.google.com/spreadsheets/d/1PLm37YWcV9dAwEAPx5p71aL2DtW3wJBzwRfMjdetcwQ/edit?usp=sharing</a:t>
            </a:r>
            <a:endParaRPr lang="en-US" dirty="0">
              <a:cs typeface="Calibri" panose="020F0502020204030204"/>
              <a:hlinkClick r:id="rId3"/>
            </a:endParaRPr>
          </a:p>
          <a:p>
            <a:endParaRPr lang="en-US" dirty="0">
              <a:cs typeface="Calibri" panose="020F0502020204030204"/>
            </a:endParaRPr>
          </a:p>
          <a:p>
            <a:r>
              <a:rPr lang="en-US" dirty="0">
                <a:cs typeface="Calibri" panose="020F0502020204030204"/>
              </a:rPr>
              <a:t>Verizon DBIR: </a:t>
            </a:r>
            <a:r>
              <a:rPr lang="en-US" dirty="0">
                <a:hlinkClick r:id="rId4"/>
              </a:rPr>
              <a:t>2022-data-breach-investigations-report-dbir.pdf (verizon.com)</a:t>
            </a:r>
            <a:endParaRPr lang="en-US" dirty="0">
              <a:cs typeface="Calibri" panose="020F0502020204030204"/>
            </a:endParaRPr>
          </a:p>
          <a:p>
            <a:endParaRPr lang="en-US" dirty="0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607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Example of Disclaimer: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CISA Compiles Free Cybersecurity Services and Tools for Network Defenders | CISA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06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SANS Institute on Twitter: "Do you have the latest SANS #cybersecurity posters like this gem, #CISO Mind Map, from SANS Security Leadership? Download your copy: https://t.co/EGtTUwZEFr https://t.co/ruc8cu85sI" / Twitter</a:t>
            </a:r>
            <a:endParaRPr lang="en-US" dirty="0"/>
          </a:p>
          <a:p>
            <a:endParaRPr lang="en-US" dirty="0"/>
          </a:p>
          <a:p>
            <a:r>
              <a:rPr lang="en-US" dirty="0"/>
              <a:t>https://twitter.com/SANSInstitute/status/1263825718024310784/photo/1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986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UW </a:t>
            </a:r>
            <a:r>
              <a:rPr lang="en-US" dirty="0" err="1">
                <a:cs typeface="Calibri"/>
              </a:rPr>
              <a:t>GoogleSheets</a:t>
            </a:r>
            <a:r>
              <a:rPr lang="en-US" dirty="0">
                <a:cs typeface="Calibri"/>
              </a:rPr>
              <a:t>:</a:t>
            </a:r>
          </a:p>
          <a:p>
            <a:r>
              <a:rPr lang="en-US" dirty="0">
                <a:ea typeface="Calibri"/>
                <a:cs typeface="Calibri"/>
              </a:rPr>
              <a:t>https://docs.google.com/spreadsheets/d/14SuyZOHVYs3PnGzfu_sTUigj2LVNbl02fkV0HtJ6fnA/edit?usp=sharing</a:t>
            </a: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Ransomware Protection in Windows</a:t>
            </a:r>
            <a:endParaRPr lang="en-US" dirty="0"/>
          </a:p>
          <a:p>
            <a:r>
              <a:rPr lang="en-US" dirty="0">
                <a:hlinkClick r:id="rId3"/>
              </a:rPr>
              <a:t>Sophos Central – IT Connect (uw.edu) 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4"/>
              </a:rPr>
              <a:t>End-of-Support Software Report List (cisecurity.org)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5"/>
              </a:rPr>
              <a:t>Time to Patch – Krebs on Security  </a:t>
            </a:r>
            <a:endParaRPr lang="en-US" dirty="0"/>
          </a:p>
          <a:p>
            <a:r>
              <a:rPr lang="en-US" dirty="0">
                <a:cs typeface="Calibri"/>
              </a:rPr>
              <a:t>Maybe look at </a:t>
            </a:r>
            <a:r>
              <a:rPr lang="en-US" dirty="0" err="1">
                <a:cs typeface="Calibri"/>
              </a:rPr>
              <a:t>Winget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AutoUpdate</a:t>
            </a:r>
            <a:r>
              <a:rPr lang="en-US" dirty="0">
                <a:cs typeface="Calibri"/>
              </a:rPr>
              <a:t> Windows, Ansible, </a:t>
            </a:r>
            <a:r>
              <a:rPr lang="en-US" dirty="0" err="1">
                <a:cs typeface="Calibri"/>
              </a:rPr>
              <a:t>Chocolatley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AutoPatch</a:t>
            </a:r>
            <a:r>
              <a:rPr lang="en-US" dirty="0">
                <a:cs typeface="Calibri"/>
              </a:rPr>
              <a:t> via Azure tenant/</a:t>
            </a:r>
            <a:r>
              <a:rPr lang="en-US" dirty="0" err="1">
                <a:cs typeface="Calibri"/>
              </a:rPr>
              <a:t>inTune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>
                <a:hlinkClick r:id="rId6"/>
              </a:rPr>
              <a:t>Vulnerability Summary for the Week of August 15, 2022 | CISA</a:t>
            </a:r>
            <a:endParaRPr lang="en-US" dirty="0">
              <a:cs typeface="Calibri"/>
              <a:hlinkClick r:id="rId6"/>
            </a:endParaRPr>
          </a:p>
          <a:p>
            <a:endParaRPr lang="en-US" dirty="0"/>
          </a:p>
          <a:p>
            <a:r>
              <a:rPr lang="en-US" dirty="0">
                <a:hlinkClick r:id="rId7"/>
              </a:rPr>
              <a:t>Cyber </a:t>
            </a:r>
            <a:r>
              <a:rPr lang="en-US" dirty="0" err="1">
                <a:hlinkClick r:id="rId7"/>
              </a:rPr>
              <a:t>Defence</a:t>
            </a:r>
            <a:r>
              <a:rPr lang="en-US" dirty="0">
                <a:hlinkClick r:id="rId7"/>
              </a:rPr>
              <a:t> News for Blue &amp; Purple Teams | Ollie | </a:t>
            </a:r>
            <a:r>
              <a:rPr lang="en-US" dirty="0" err="1">
                <a:hlinkClick r:id="rId7"/>
              </a:rPr>
              <a:t>Substack</a:t>
            </a:r>
            <a:endParaRPr lang="en-US" dirty="0">
              <a:cs typeface="Calibri"/>
              <a:hlinkClick r:id="rId7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 err="1"/>
              <a:t>Whats</a:t>
            </a:r>
            <a:r>
              <a:rPr lang="en-US" dirty="0"/>
              <a:t> </a:t>
            </a:r>
            <a:r>
              <a:rPr lang="en-US" dirty="0">
                <a:hlinkClick r:id="rId8"/>
              </a:rPr>
              <a:t>Shodan</a:t>
            </a:r>
            <a:r>
              <a:rPr lang="en-US" dirty="0"/>
              <a:t> or </a:t>
            </a:r>
            <a:r>
              <a:rPr lang="en-US" dirty="0">
                <a:hlinkClick r:id="rId9"/>
              </a:rPr>
              <a:t>Censys.io</a:t>
            </a:r>
            <a:r>
              <a:rPr lang="en-US" dirty="0"/>
              <a:t> look like for your Public IPs? 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>
                <a:hlinkClick r:id="rId10"/>
              </a:rPr>
              <a:t>https://holisticinfosec.blogspot.com/2016/12/the-dfir-hierarchy-of-needs-critical.html</a:t>
            </a:r>
            <a:endParaRPr lang="en-US" dirty="0">
              <a:cs typeface="Calibri"/>
              <a:hlinkClick r:id="rId10"/>
            </a:endParaRPr>
          </a:p>
          <a:p>
            <a:endParaRPr lang="en-US" dirty="0">
              <a:cs typeface="Calibri"/>
            </a:endParaRPr>
          </a:p>
          <a:p>
            <a:r>
              <a:rPr lang="en-US" dirty="0" err="1">
                <a:hlinkClick r:id="rId11"/>
              </a:rPr>
              <a:t>FuzzySecurity</a:t>
            </a:r>
            <a:r>
              <a:rPr lang="en-US" dirty="0">
                <a:hlinkClick r:id="rId11"/>
              </a:rPr>
              <a:t>/WWHF-WayWest-2022 at fba2475d2f8dc7b7999cc5994ac340ca1db62090 (github.com)</a:t>
            </a:r>
            <a:endParaRPr lang="en-US" dirty="0"/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09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Stories/Reasons: I am A..., Who Helps..., Because...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Email everyone you know letting them know you would never ask for gift cards or  wire transfers</a:t>
            </a:r>
          </a:p>
          <a:p>
            <a:endParaRPr lang="en-US" dirty="0">
              <a:cs typeface="Calibri"/>
            </a:endParaRPr>
          </a:p>
          <a:p>
            <a:r>
              <a:rPr lang="en-US" dirty="0"/>
              <a:t>Security is my after work hobby, so I am passionate about it. 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233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Stories/Reasons: I am A..., Who Helps..., Because...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Email everyone you know letting them know you would never ask for gift cards or  wire transfers</a:t>
            </a:r>
          </a:p>
          <a:p>
            <a:endParaRPr lang="en-US" dirty="0">
              <a:cs typeface="Calibri"/>
            </a:endParaRPr>
          </a:p>
          <a:p>
            <a:r>
              <a:rPr lang="en-US" dirty="0"/>
              <a:t>Security is my after work hobby, so I am passionate about it. 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419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cs typeface="Calibri"/>
              </a:rPr>
              <a:t>CyberForce</a:t>
            </a:r>
            <a:r>
              <a:rPr lang="en-US" dirty="0">
                <a:cs typeface="Calibri"/>
              </a:rPr>
              <a:t>: Velociraptor, </a:t>
            </a:r>
            <a:r>
              <a:rPr lang="en-US" dirty="0" err="1">
                <a:cs typeface="Calibri"/>
              </a:rPr>
              <a:t>Blueteam</a:t>
            </a:r>
            <a:r>
              <a:rPr lang="en-US" dirty="0">
                <a:cs typeface="Calibri"/>
              </a:rPr>
              <a:t> Defense tools against Red and Dev Red Team vulns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Training; Phish with device codes, Setup C2 and obfuscate payload, and how to </a:t>
            </a:r>
            <a:r>
              <a:rPr lang="en-US" dirty="0" err="1">
                <a:cs typeface="Calibri"/>
              </a:rPr>
              <a:t>enum</a:t>
            </a:r>
            <a:r>
              <a:rPr lang="en-US" dirty="0">
                <a:cs typeface="Calibri"/>
              </a:rPr>
              <a:t> Teams and Search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6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OneDrive Recovery:</a:t>
            </a:r>
          </a:p>
          <a:p>
            <a:r>
              <a:rPr lang="en-US" dirty="0"/>
              <a:t>https://screencast-o-matic.com/watch/c3Qv34VtipM</a:t>
            </a:r>
          </a:p>
          <a:p>
            <a:endParaRPr lang="en-US" dirty="0"/>
          </a:p>
          <a:p>
            <a:r>
              <a:rPr lang="en-US" dirty="0"/>
              <a:t>Restore from </a:t>
            </a:r>
            <a:r>
              <a:rPr lang="en-US" dirty="0" err="1"/>
              <a:t>BackBlaze</a:t>
            </a:r>
            <a:r>
              <a:rPr lang="en-US" dirty="0"/>
              <a:t>:</a:t>
            </a:r>
          </a:p>
          <a:p>
            <a:r>
              <a:rPr lang="en-US" dirty="0"/>
              <a:t>https://screencast-o-matic.com/watch/c3QuqvVtcqw</a:t>
            </a:r>
          </a:p>
          <a:p>
            <a:endParaRPr lang="en-US" dirty="0"/>
          </a:p>
          <a:p>
            <a:r>
              <a:rPr lang="en-US" dirty="0"/>
              <a:t>Sophos Home</a:t>
            </a:r>
          </a:p>
          <a:p>
            <a:r>
              <a:rPr lang="en-US" dirty="0"/>
              <a:t>https://home.sophos.com/en-us</a:t>
            </a:r>
          </a:p>
          <a:p>
            <a:endParaRPr lang="en-US" dirty="0"/>
          </a:p>
          <a:p>
            <a:r>
              <a:rPr lang="en-US" dirty="0"/>
              <a:t>Borg Backup for Linux</a:t>
            </a:r>
          </a:p>
          <a:p>
            <a:r>
              <a:rPr lang="en-US" dirty="0"/>
              <a:t>https://borgbackup.readthedocs.io/en/stable/installation.html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375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files/translate_f.pdf at main · silence-is-best/files (github.com)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4"/>
              </a:rPr>
              <a:t>The hateful eight: Kaspersky’s guide to modern ransomware groups’ TTPs | Securelist</a:t>
            </a:r>
            <a:endParaRPr lang="en-US" dirty="0"/>
          </a:p>
          <a:p>
            <a:endParaRPr lang="en-US" dirty="0"/>
          </a:p>
          <a:p>
            <a:r>
              <a:rPr lang="en-US" dirty="0"/>
              <a:t>Jessica from Microsoft (IR at the time):</a:t>
            </a:r>
            <a:endParaRPr lang="en-US" dirty="0">
              <a:cs typeface="Calibri" panose="020F0502020204030204"/>
            </a:endParaRPr>
          </a:p>
          <a:p>
            <a:r>
              <a:rPr lang="en-US" dirty="0">
                <a:hlinkClick r:id="rId5"/>
              </a:rPr>
              <a:t>https://twitter.com/jepaynemsft/status/1255991971845308416</a:t>
            </a:r>
            <a:endParaRPr lang="en-US" dirty="0">
              <a:cs typeface="Calibri"/>
              <a:hlinkClick r:id="rId5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hlinkClick r:id="rId6"/>
              </a:rPr>
              <a:t>https://attack.mitre.org/groups/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703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TrustedSec</a:t>
            </a:r>
            <a:r>
              <a:rPr lang="en-US" dirty="0"/>
              <a:t> -</a:t>
            </a:r>
            <a:r>
              <a:rPr lang="en-US" b="0" i="0" dirty="0">
                <a:effectLst/>
                <a:latin typeface="Roboto" panose="02000000000000000000" pitchFamily="2" charset="0"/>
                <a:hlinkClick r:id="rId3"/>
              </a:rPr>
              <a:t>Back to the Basics of Security Practices</a:t>
            </a:r>
            <a:endParaRPr lang="en-US" dirty="0"/>
          </a:p>
          <a:p>
            <a:r>
              <a:rPr lang="en-US" dirty="0"/>
              <a:t>https://www.youtube.com/watch?v=dJT2pVNAbfA&amp;list=PLk-dPXV5k8SEtiTgi9wgxmDS0CCZQur6H</a:t>
            </a:r>
          </a:p>
          <a:p>
            <a:endParaRPr lang="en-US" dirty="0"/>
          </a:p>
          <a:p>
            <a:r>
              <a:rPr lang="en-US" b="1" dirty="0" err="1"/>
              <a:t>PingCastle</a:t>
            </a:r>
            <a:r>
              <a:rPr lang="en-US" b="1" dirty="0"/>
              <a:t> AD Assessment</a:t>
            </a:r>
          </a:p>
          <a:p>
            <a:r>
              <a:rPr lang="en-US" dirty="0"/>
              <a:t>https://www.pingcastle.com/download/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171717"/>
                </a:solidFill>
                <a:effectLst/>
                <a:latin typeface="Segoe UI" panose="020B0502040204020203" pitchFamily="34" charset="0"/>
              </a:rPr>
              <a:t>Active Directory On-Demand Assessment</a:t>
            </a:r>
            <a:endParaRPr lang="en-US" dirty="0"/>
          </a:p>
          <a:p>
            <a:r>
              <a:rPr lang="en-US" dirty="0"/>
              <a:t>https://learn.microsoft.com/en-us/services-hub/health/getting-started-ad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97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https://grizzly-dibble-cdb.notion.site/BloodHound-Active-Directory-8771c2bd8f11403cbd108b83d97f3053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9445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u="sng" dirty="0">
              <a:hlinkClick r:id="rId3"/>
            </a:endParaRPr>
          </a:p>
          <a:p>
            <a:r>
              <a:rPr lang="en-US" u="sng" dirty="0">
                <a:cs typeface="Calibri"/>
              </a:rPr>
              <a:t>https://thedfirreport.com/</a:t>
            </a:r>
          </a:p>
          <a:p>
            <a:endParaRPr lang="en-US" u="sng" dirty="0">
              <a:hlinkClick r:id="rId3"/>
            </a:endParaRPr>
          </a:p>
          <a:p>
            <a:r>
              <a:rPr lang="en-US" u="sng" dirty="0">
                <a:hlinkClick r:id="rId3"/>
              </a:rPr>
              <a:t>Brute Ratel: </a:t>
            </a:r>
          </a:p>
          <a:p>
            <a:r>
              <a:rPr lang="en-US" u="sng" dirty="0">
                <a:hlinkClick r:id="rId3"/>
              </a:rPr>
              <a:t>https://www.youtube.com/watch?v=hAHkJSPCc2A</a:t>
            </a:r>
          </a:p>
          <a:p>
            <a:endParaRPr lang="en-US" u="sng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896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u="sng" dirty="0">
              <a:hlinkClick r:id="rId3"/>
            </a:endParaRPr>
          </a:p>
          <a:p>
            <a:r>
              <a:rPr lang="en-US" u="sng" dirty="0">
                <a:hlinkClick r:id="rId3"/>
              </a:rPr>
              <a:t>https://grizzly-dibble-cdb.notion.site/Central-Logging-with-Wazuh-278119388a16411e9cf2ae6ba39a90c8</a:t>
            </a:r>
          </a:p>
          <a:p>
            <a:endParaRPr lang="en-US" u="sng" dirty="0">
              <a:hlinkClick r:id="rId3"/>
            </a:endParaRPr>
          </a:p>
          <a:p>
            <a:r>
              <a:rPr lang="en-US" dirty="0">
                <a:hlinkClick r:id="rId4"/>
              </a:rPr>
              <a:t>The DFIR Report – Real Intrusions by Real Attackers, The Truth Behind the Intrusion</a:t>
            </a:r>
            <a:endParaRPr lang="en-US" u="sng" dirty="0">
              <a:hlinkClick r:id="rId3"/>
            </a:endParaRPr>
          </a:p>
          <a:p>
            <a:endParaRPr lang="en-US" u="sng" dirty="0">
              <a:cs typeface="Calibri"/>
            </a:endParaRPr>
          </a:p>
          <a:p>
            <a:r>
              <a:rPr lang="en-US" dirty="0">
                <a:cs typeface="Calibri"/>
              </a:rPr>
              <a:t>Sept 6th</a:t>
            </a:r>
          </a:p>
          <a:p>
            <a:r>
              <a:rPr lang="en-US" dirty="0"/>
              <a:t>Over the past several years, the education sector, especially kindergarten through twelfth grade (K-12) institutions, have been a frequent target of ransomware attacks</a:t>
            </a: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hlinkClick r:id="rId5"/>
              </a:rPr>
              <a:t>The 18 CIS Critical Security Controls (cisecurity.org)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59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AD Mitigations: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https://www.youtube.com/watch?v=vga7A2tYejE&amp;t=5s</a:t>
            </a:r>
            <a:endParaRPr lang="en-US" b="1" dirty="0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cs typeface="Calibri" panose="020F0502020204030204"/>
              </a:rPr>
              <a:t>Simulate Ransomware: </a:t>
            </a:r>
            <a:r>
              <a:rPr lang="en-US" dirty="0" err="1"/>
              <a:t>sudo</a:t>
            </a:r>
            <a:r>
              <a:rPr lang="en-US" dirty="0"/>
              <a:t> git clone </a:t>
            </a:r>
            <a:r>
              <a:rPr lang="en-US" dirty="0">
                <a:hlinkClick r:id="rId4"/>
              </a:rPr>
              <a:t>https://github.com/zeronetworks/BloodHound-Tools/tree/main/Ransomulator</a:t>
            </a:r>
            <a:r>
              <a:rPr lang="en-US" dirty="0"/>
              <a:t>
</a:t>
            </a:r>
            <a:r>
              <a:rPr lang="en-US" dirty="0" err="1"/>
              <a:t>sudo</a:t>
            </a:r>
            <a:r>
              <a:rPr lang="en-US" dirty="0"/>
              <a:t> apt-update
</a:t>
            </a:r>
            <a:r>
              <a:rPr lang="en-US" dirty="0" err="1"/>
              <a:t>sudo</a:t>
            </a:r>
            <a:r>
              <a:rPr lang="en-US" dirty="0"/>
              <a:t> apt-upgrade
</a:t>
            </a:r>
            <a:r>
              <a:rPr lang="en-US" dirty="0" err="1"/>
              <a:t>sudo</a:t>
            </a:r>
            <a:r>
              <a:rPr lang="en-US" dirty="0"/>
              <a:t> apt-get install python3-pip
</a:t>
            </a:r>
            <a:r>
              <a:rPr lang="en-US" dirty="0" err="1"/>
              <a:t>sudo</a:t>
            </a:r>
            <a:r>
              <a:rPr lang="en-US" dirty="0"/>
              <a:t> apt-cache </a:t>
            </a:r>
            <a:r>
              <a:rPr lang="en-US" dirty="0" err="1"/>
              <a:t>madison</a:t>
            </a:r>
            <a:r>
              <a:rPr lang="en-US" dirty="0"/>
              <a:t> neo4j
python3 -m pip install neo4j
python3 -m pip install neo4j-driver
pip3 install </a:t>
            </a:r>
            <a:r>
              <a:rPr lang="en-US" dirty="0" err="1"/>
              <a:t>cornershot</a:t>
            </a:r>
            <a:r>
              <a:rPr lang="en-US" dirty="0"/>
              <a:t>
</a:t>
            </a:r>
            <a:r>
              <a:rPr lang="en-US" dirty="0" err="1"/>
              <a:t>root@kali</a:t>
            </a:r>
            <a:r>
              <a:rPr lang="en-US" dirty="0"/>
              <a:t>:~/Downloads/BloodHound-linux-x64/</a:t>
            </a:r>
            <a:r>
              <a:rPr lang="en-US" dirty="0" err="1"/>
              <a:t>BloodHound</a:t>
            </a:r>
            <a:r>
              <a:rPr lang="en-US" dirty="0"/>
              <a:t>-Tools/
python3 ransomulator.py -p </a:t>
            </a:r>
            <a:r>
              <a:rPr lang="en-US" dirty="0" err="1"/>
              <a:t>BloodHound</a:t>
            </a:r>
            <a:endParaRPr lang="en-US" dirty="0">
              <a:cs typeface="Calibri" panose="020F0502020204030204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cs typeface="Calibri" panose="020F0502020204030204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cs typeface="Calibri" panose="020F0502020204030204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51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(19) Detecting Responder via LLMNR Honey Tasks on User Workstations – YouTube</a:t>
            </a:r>
            <a:endParaRPr lang="en-US" dirty="0"/>
          </a:p>
          <a:p>
            <a:endParaRPr lang="en-US" dirty="0"/>
          </a:p>
          <a:p>
            <a:r>
              <a:rPr lang="en-US" dirty="0"/>
              <a:t>https://www.youtube.com/watch?v=h_cWWL-yyb0&amp;t=295s</a:t>
            </a:r>
          </a:p>
          <a:p>
            <a:endParaRPr lang="en-US" dirty="0"/>
          </a:p>
          <a:p>
            <a:r>
              <a:rPr lang="en-US" dirty="0"/>
              <a:t>Twitter API:</a:t>
            </a:r>
          </a:p>
          <a:p>
            <a:r>
              <a:rPr lang="en-US" dirty="0"/>
              <a:t>https://screencast-o-matic.com/watch/c3QFqHVOwRy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Twitter </a:t>
            </a:r>
            <a:r>
              <a:rPr lang="en-US" dirty="0" err="1"/>
              <a:t>Pentester</a:t>
            </a:r>
            <a:r>
              <a:rPr lang="en-US" dirty="0"/>
              <a:t>/Red Teamer:</a:t>
            </a:r>
          </a:p>
          <a:p>
            <a:r>
              <a:rPr lang="en-US" dirty="0"/>
              <a:t>https://twitter.com/n00py1/status/1577045510036557824</a:t>
            </a:r>
          </a:p>
          <a:p>
            <a:endParaRPr lang="en-US" dirty="0"/>
          </a:p>
          <a:p>
            <a:r>
              <a:rPr lang="en-US" dirty="0"/>
              <a:t>Twitter on finding SHARES in AD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https://twitter.com/mpgn_x64/status/1572968433465032705?s=20&amp;t=ZRlajZnT3l9Irgzum-53Vw</a:t>
            </a:r>
            <a:endParaRPr lang="en-US" dirty="0"/>
          </a:p>
          <a:p>
            <a:endParaRPr lang="en-US" dirty="0"/>
          </a:p>
          <a:p>
            <a:r>
              <a:rPr lang="en-US" dirty="0"/>
              <a:t>Responder:</a:t>
            </a:r>
          </a:p>
          <a:p>
            <a:r>
              <a:rPr lang="en-US" dirty="0"/>
              <a:t>https://screencast-o-matic.com/watch/cqiveFOp0E</a:t>
            </a:r>
          </a:p>
          <a:p>
            <a:endParaRPr lang="en-US" dirty="0"/>
          </a:p>
          <a:p>
            <a:r>
              <a:rPr lang="en-US" dirty="0"/>
              <a:t>Slack to Responder:</a:t>
            </a:r>
          </a:p>
          <a:p>
            <a:r>
              <a:rPr lang="en-US" dirty="0"/>
              <a:t>https://screencast-o-matic.com/watch/cYfV024AGF</a:t>
            </a:r>
          </a:p>
          <a:p>
            <a:endParaRPr lang="en-US" dirty="0"/>
          </a:p>
          <a:p>
            <a:r>
              <a:rPr lang="en-US" dirty="0"/>
              <a:t>AD </a:t>
            </a:r>
            <a:r>
              <a:rPr lang="en-US" dirty="0" err="1"/>
              <a:t>CheatSheets</a:t>
            </a:r>
            <a:r>
              <a:rPr lang="en-US" dirty="0"/>
              <a:t>: https://hideandsec.sh/books/cheatsheets-82c/page/active-directory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15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https://www.microsoft.com/security/blog/2020/04/28/ransomware-groups-continue-to-target-healthcare-critical-services-heres-how-to-reduce-risk/</a:t>
            </a:r>
            <a:endParaRPr lang="en-US" dirty="0">
              <a:cs typeface="Calibri"/>
            </a:endParaRPr>
          </a:p>
          <a:p>
            <a:r>
              <a:rPr lang="en-US" dirty="0"/>
              <a:t>RDP brute force is trying to reuse passwords... HAVEIBEENPWNED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Vuln on Internet –see it with Shodan or </a:t>
            </a:r>
            <a:r>
              <a:rPr lang="en-US" dirty="0" err="1">
                <a:cs typeface="Calibri"/>
              </a:rPr>
              <a:t>nmap</a:t>
            </a:r>
            <a:r>
              <a:rPr lang="en-US" dirty="0">
                <a:cs typeface="Calibri"/>
              </a:rPr>
              <a:t> or other free tools to find CVEs and easily exploit.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Weak application settings... Patch, secure configs, GPO settings, firewall, </a:t>
            </a:r>
            <a:r>
              <a:rPr lang="en-US" dirty="0" err="1">
                <a:cs typeface="Calibri"/>
              </a:rPr>
              <a:t>segmentaion</a:t>
            </a:r>
            <a:r>
              <a:rPr lang="en-US" dirty="0">
                <a:cs typeface="Calibri"/>
              </a:rPr>
              <a:t>, logging, </a:t>
            </a:r>
            <a:r>
              <a:rPr lang="en-US" dirty="0" err="1">
                <a:cs typeface="Calibri"/>
              </a:rPr>
              <a:t>etc</a:t>
            </a:r>
            <a:endParaRPr lang="en-US" dirty="0"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Responder:</a:t>
            </a:r>
          </a:p>
          <a:p>
            <a:r>
              <a:rPr lang="en-US" dirty="0">
                <a:ea typeface="Calibri"/>
                <a:cs typeface="Calibri"/>
              </a:rPr>
              <a:t>https://screencast-o-matic.com/watch/cqiveFOp0E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137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https://www.cisa.gov/stopransomware/ransomware-guide</a:t>
            </a:r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https://www.cisecurity.org/insights/blog/end-of-support-software-report-list</a:t>
            </a:r>
          </a:p>
          <a:p>
            <a:endParaRPr lang="en-US" dirty="0">
              <a:hlinkClick r:id="rId3"/>
            </a:endParaRPr>
          </a:p>
          <a:p>
            <a:r>
              <a:rPr lang="en-US" dirty="0"/>
              <a:t>https://www.cisa.gov/uscert/ncas/bulletins</a:t>
            </a:r>
          </a:p>
          <a:p>
            <a:endParaRPr lang="en-US" dirty="0"/>
          </a:p>
          <a:p>
            <a:r>
              <a:rPr lang="en-US" dirty="0"/>
              <a:t>https://www.cisa.gov/uscert/ncas/alerts</a:t>
            </a:r>
          </a:p>
          <a:p>
            <a:endParaRPr lang="en-US" dirty="0"/>
          </a:p>
          <a:p>
            <a:r>
              <a:rPr lang="en-US" dirty="0"/>
              <a:t>https://bluepurple.substack.com/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https://krebsonsecurity.com/category/patches/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 err="1"/>
              <a:t>Whats</a:t>
            </a:r>
            <a:r>
              <a:rPr lang="en-US" dirty="0"/>
              <a:t> </a:t>
            </a:r>
            <a:r>
              <a:rPr lang="en-US" dirty="0">
                <a:hlinkClick r:id="rId4"/>
              </a:rPr>
              <a:t>Shodan</a:t>
            </a:r>
            <a:r>
              <a:rPr lang="en-US" dirty="0"/>
              <a:t> or </a:t>
            </a:r>
            <a:r>
              <a:rPr lang="en-US" dirty="0">
                <a:hlinkClick r:id="rId5"/>
              </a:rPr>
              <a:t>Censys.io</a:t>
            </a:r>
            <a:r>
              <a:rPr lang="en-US" dirty="0"/>
              <a:t> look like for your Public IPs? 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>
                <a:hlinkClick r:id="rId6"/>
              </a:rPr>
              <a:t>https://holisticinfosec.blogspot.com/2016/12/the-dfir-hierarchy-of-needs-critical.html</a:t>
            </a:r>
            <a:endParaRPr lang="en-US" dirty="0">
              <a:cs typeface="Calibri"/>
              <a:hlinkClick r:id="rId6"/>
            </a:endParaRPr>
          </a:p>
          <a:p>
            <a:endParaRPr lang="en-US" dirty="0">
              <a:cs typeface="Calibri"/>
            </a:endParaRPr>
          </a:p>
          <a:p>
            <a:r>
              <a:rPr lang="en-US" dirty="0" err="1">
                <a:hlinkClick r:id="rId7"/>
              </a:rPr>
              <a:t>FuzzySecurity</a:t>
            </a:r>
            <a:r>
              <a:rPr lang="en-US" dirty="0">
                <a:hlinkClick r:id="rId7"/>
              </a:rPr>
              <a:t>/WWHF-WayWest-2022 at fba2475d2f8dc7b7999cc5994ac340ca1db62090 (github.com)</a:t>
            </a:r>
            <a:endParaRPr lang="en-US" dirty="0"/>
          </a:p>
          <a:p>
            <a:endParaRPr lang="en-US" dirty="0">
              <a:cs typeface="Calibri"/>
              <a:hlinkClick r:id="rId8"/>
            </a:endParaRPr>
          </a:p>
          <a:p>
            <a:r>
              <a:rPr lang="en-US" dirty="0">
                <a:cs typeface="Calibri"/>
              </a:rPr>
              <a:t>https://www.cisecurity.org/terms-and-conditions-table-of-contents/cis-endpoint-security-services-via-crowdstrike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354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dirty="0"/>
              <a:t>https://bnb.silverday.de/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dirty="0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4022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UW </a:t>
            </a:r>
            <a:r>
              <a:rPr lang="en-US" dirty="0" err="1">
                <a:cs typeface="Calibri"/>
              </a:rPr>
              <a:t>GoogleSheets:</a:t>
            </a:r>
            <a:r>
              <a:rPr lang="en-US" dirty="0" err="1"/>
              <a:t>https</a:t>
            </a:r>
            <a:r>
              <a:rPr lang="en-US" dirty="0"/>
              <a:t>://docs.google.com/spreadsheets/d/1PLm37YWcV9dAwEAPx5p71aL2DtW3wJBzwRfMjdetcwQ/</a:t>
            </a:r>
            <a:r>
              <a:rPr lang="en-US" dirty="0" err="1"/>
              <a:t>edit?usp</a:t>
            </a:r>
            <a:r>
              <a:rPr lang="en-US" dirty="0"/>
              <a:t>=sharing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@_wald0 azure </a:t>
            </a:r>
            <a:r>
              <a:rPr lang="en-US" dirty="0" err="1">
                <a:ea typeface="Calibri"/>
                <a:cs typeface="Calibri"/>
              </a:rPr>
              <a:t>github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What are more areas that need to be focused on?</a:t>
            </a:r>
          </a:p>
          <a:p>
            <a:r>
              <a:rPr lang="en-US" dirty="0">
                <a:ea typeface="Calibri"/>
                <a:cs typeface="Calibri"/>
              </a:rPr>
              <a:t>-Security controls </a:t>
            </a:r>
            <a:r>
              <a:rPr lang="en-US" dirty="0" err="1">
                <a:ea typeface="Calibri"/>
                <a:cs typeface="Calibri"/>
              </a:rPr>
              <a:t>builtin</a:t>
            </a:r>
            <a:r>
              <a:rPr lang="en-US" dirty="0">
                <a:ea typeface="Calibri"/>
                <a:cs typeface="Calibri"/>
              </a:rPr>
              <a:t>: GPO/Reg keys/ASR/SMB attack slow down(Win11 insider), first setup as Audit mode.</a:t>
            </a:r>
          </a:p>
          <a:p>
            <a:r>
              <a:rPr lang="en-US" dirty="0">
                <a:cs typeface="Calibri"/>
              </a:rPr>
              <a:t>-Firewall to block Powershell.exe out to the Internet from endpoint or network</a:t>
            </a:r>
          </a:p>
          <a:p>
            <a:pPr marL="171450" indent="-171450">
              <a:buFontTx/>
              <a:buChar char="-"/>
            </a:pPr>
            <a:r>
              <a:rPr lang="en-US" dirty="0">
                <a:cs typeface="Calibri"/>
              </a:rPr>
              <a:t>Mac/Linux: </a:t>
            </a:r>
            <a:r>
              <a:rPr lang="en-US" dirty="0" err="1">
                <a:cs typeface="Calibri"/>
              </a:rPr>
              <a:t>AuditD</a:t>
            </a:r>
            <a:r>
              <a:rPr lang="en-US" dirty="0">
                <a:cs typeface="Calibri"/>
              </a:rPr>
              <a:t>, Sysmon</a:t>
            </a:r>
          </a:p>
          <a:p>
            <a:pPr marL="171450" indent="-171450">
              <a:buFontTx/>
              <a:buChar char="-"/>
            </a:pPr>
            <a:r>
              <a:rPr lang="en-US" dirty="0">
                <a:cs typeface="Calibri"/>
              </a:rPr>
              <a:t>MFA</a:t>
            </a:r>
          </a:p>
          <a:p>
            <a:pPr marL="171450" indent="-171450">
              <a:buFontTx/>
              <a:buChar char="-"/>
            </a:pPr>
            <a:r>
              <a:rPr lang="en-US" dirty="0">
                <a:cs typeface="Calibri"/>
              </a:rPr>
              <a:t>Admin connect to 445 and regular users don’t. Use Palantir SACL</a:t>
            </a:r>
          </a:p>
          <a:p>
            <a:pPr marL="171450" indent="-171450">
              <a:buFontTx/>
              <a:buChar char="-"/>
            </a:pPr>
            <a:r>
              <a:rPr lang="en-US" dirty="0" err="1">
                <a:cs typeface="Calibri"/>
              </a:rPr>
              <a:t>HoneyTokens</a:t>
            </a:r>
            <a:endParaRPr lang="en-US" dirty="0">
              <a:cs typeface="Calibri"/>
            </a:endParaRPr>
          </a:p>
          <a:p>
            <a:pPr marL="171450" indent="-171450">
              <a:buFontTx/>
              <a:buChar char="-"/>
            </a:pPr>
            <a:r>
              <a:rPr lang="en-US" dirty="0">
                <a:cs typeface="Calibri"/>
              </a:rPr>
              <a:t>Allow teams to be creative 10% of the time to prevent burnout</a:t>
            </a:r>
          </a:p>
          <a:p>
            <a:pPr marL="171450" indent="-171450">
              <a:buFontTx/>
              <a:buChar char="-"/>
            </a:pPr>
            <a:r>
              <a:rPr lang="en-US" dirty="0">
                <a:cs typeface="Calibri"/>
              </a:rPr>
              <a:t>Cultivate Healthy team that works together (Management)</a:t>
            </a:r>
          </a:p>
          <a:p>
            <a:pPr marL="171450" indent="-171450">
              <a:buFontTx/>
              <a:buChar char="-"/>
            </a:pPr>
            <a:r>
              <a:rPr lang="en-US" dirty="0">
                <a:cs typeface="Calibri"/>
              </a:rPr>
              <a:t>Backups</a:t>
            </a:r>
          </a:p>
          <a:p>
            <a:pPr marL="171450" indent="-171450">
              <a:buFontTx/>
              <a:buChar char="-"/>
            </a:pPr>
            <a:r>
              <a:rPr lang="en-US" dirty="0">
                <a:cs typeface="Calibri"/>
              </a:rPr>
              <a:t>Identity lifecycle</a:t>
            </a:r>
          </a:p>
          <a:p>
            <a:pPr marL="171450" indent="-171450">
              <a:buFontTx/>
              <a:buChar char="-"/>
            </a:pPr>
            <a:r>
              <a:rPr lang="en-US" dirty="0">
                <a:cs typeface="Calibri"/>
              </a:rPr>
              <a:t>Patch mgmt. across platforms (Cloud/Mac/Windows/Linux/Containers)?</a:t>
            </a:r>
          </a:p>
          <a:p>
            <a:pPr marL="171450" indent="-171450">
              <a:buFontTx/>
              <a:buChar char="-"/>
            </a:pPr>
            <a:endParaRPr lang="en-US" dirty="0">
              <a:cs typeface="Calibri"/>
            </a:endParaRPr>
          </a:p>
          <a:p>
            <a:pPr marL="171450" indent="-171450">
              <a:buFontTx/>
              <a:buChar char="-"/>
            </a:pPr>
            <a:r>
              <a:rPr lang="en-US" dirty="0">
                <a:cs typeface="Calibri"/>
              </a:rPr>
              <a:t>AD </a:t>
            </a:r>
            <a:r>
              <a:rPr lang="en-US" dirty="0" err="1">
                <a:cs typeface="Calibri"/>
              </a:rPr>
              <a:t>Mindmap</a:t>
            </a:r>
            <a:r>
              <a:rPr lang="en-US" dirty="0">
                <a:cs typeface="Calibri"/>
              </a:rPr>
              <a:t>: </a:t>
            </a:r>
          </a:p>
          <a:p>
            <a:pPr marL="171450" indent="-171450">
              <a:buFontTx/>
              <a:buChar char="-"/>
            </a:pPr>
            <a:r>
              <a:rPr lang="en-US" dirty="0">
                <a:cs typeface="Calibri"/>
              </a:rPr>
              <a:t>https://tajdini.net/blog/penetration/active-directory-penetration-mind-map/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Ransomware Protection in Windows</a:t>
            </a:r>
            <a:endParaRPr lang="en-US" dirty="0"/>
          </a:p>
          <a:p>
            <a:r>
              <a:rPr lang="en-US" dirty="0">
                <a:hlinkClick r:id="rId3"/>
              </a:rPr>
              <a:t>Sophos Central – IT Connect (uw.edu) 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4"/>
              </a:rPr>
              <a:t>End-of-Support Software Report List (cisecurity.org)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5"/>
              </a:rPr>
              <a:t>Time to Patch – Krebs on Security  </a:t>
            </a:r>
            <a:endParaRPr lang="en-US" dirty="0"/>
          </a:p>
          <a:p>
            <a:r>
              <a:rPr lang="en-US" dirty="0">
                <a:cs typeface="Calibri"/>
              </a:rPr>
              <a:t>Maybe look at </a:t>
            </a:r>
            <a:r>
              <a:rPr lang="en-US" dirty="0" err="1">
                <a:cs typeface="Calibri"/>
              </a:rPr>
              <a:t>Winget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AutoUpdate</a:t>
            </a:r>
            <a:r>
              <a:rPr lang="en-US" dirty="0">
                <a:cs typeface="Calibri"/>
              </a:rPr>
              <a:t> Windows, Ansible, </a:t>
            </a:r>
            <a:r>
              <a:rPr lang="en-US" dirty="0" err="1">
                <a:cs typeface="Calibri"/>
              </a:rPr>
              <a:t>Chocolatley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AutoPatch</a:t>
            </a:r>
            <a:r>
              <a:rPr lang="en-US" dirty="0">
                <a:cs typeface="Calibri"/>
              </a:rPr>
              <a:t> via Azure tenant/</a:t>
            </a:r>
            <a:r>
              <a:rPr lang="en-US" dirty="0" err="1">
                <a:cs typeface="Calibri"/>
              </a:rPr>
              <a:t>inTune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>
                <a:hlinkClick r:id="rId6"/>
              </a:rPr>
              <a:t>Vulnerability Summary for the Week of August 15, 2022 | CISA</a:t>
            </a:r>
            <a:endParaRPr lang="en-US" dirty="0">
              <a:cs typeface="Calibri"/>
              <a:hlinkClick r:id="rId6"/>
            </a:endParaRPr>
          </a:p>
          <a:p>
            <a:endParaRPr lang="en-US" dirty="0"/>
          </a:p>
          <a:p>
            <a:r>
              <a:rPr lang="en-US" dirty="0">
                <a:hlinkClick r:id="rId7"/>
              </a:rPr>
              <a:t>Cyber </a:t>
            </a:r>
            <a:r>
              <a:rPr lang="en-US" dirty="0" err="1">
                <a:hlinkClick r:id="rId7"/>
              </a:rPr>
              <a:t>Defence</a:t>
            </a:r>
            <a:r>
              <a:rPr lang="en-US" dirty="0">
                <a:hlinkClick r:id="rId7"/>
              </a:rPr>
              <a:t> News for Blue &amp; Purple Teams | Ollie | </a:t>
            </a:r>
            <a:r>
              <a:rPr lang="en-US" dirty="0" err="1">
                <a:hlinkClick r:id="rId7"/>
              </a:rPr>
              <a:t>Substack</a:t>
            </a:r>
            <a:endParaRPr lang="en-US" dirty="0">
              <a:cs typeface="Calibri"/>
              <a:hlinkClick r:id="rId7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 err="1"/>
              <a:t>Whats</a:t>
            </a:r>
            <a:r>
              <a:rPr lang="en-US" dirty="0"/>
              <a:t> </a:t>
            </a:r>
            <a:r>
              <a:rPr lang="en-US" dirty="0">
                <a:hlinkClick r:id="rId8"/>
              </a:rPr>
              <a:t>Shodan</a:t>
            </a:r>
            <a:r>
              <a:rPr lang="en-US" dirty="0"/>
              <a:t> or </a:t>
            </a:r>
            <a:r>
              <a:rPr lang="en-US" dirty="0">
                <a:hlinkClick r:id="rId9"/>
              </a:rPr>
              <a:t>Censys.io</a:t>
            </a:r>
            <a:r>
              <a:rPr lang="en-US" dirty="0"/>
              <a:t> look like for your Public IPs? 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>
                <a:hlinkClick r:id="rId10"/>
              </a:rPr>
              <a:t>https://holisticinfosec.blogspot.com/2016/12/the-dfir-hierarchy-of-needs-critical.html</a:t>
            </a:r>
            <a:endParaRPr lang="en-US" dirty="0">
              <a:cs typeface="Calibri"/>
              <a:hlinkClick r:id="rId10"/>
            </a:endParaRPr>
          </a:p>
          <a:p>
            <a:endParaRPr lang="en-US" dirty="0">
              <a:cs typeface="Calibri"/>
            </a:endParaRPr>
          </a:p>
          <a:p>
            <a:r>
              <a:rPr lang="en-US" dirty="0" err="1">
                <a:hlinkClick r:id="rId11"/>
              </a:rPr>
              <a:t>FuzzySecurity</a:t>
            </a:r>
            <a:r>
              <a:rPr lang="en-US" dirty="0">
                <a:hlinkClick r:id="rId11"/>
              </a:rPr>
              <a:t>/WWHF-WayWest-2022 at fba2475d2f8dc7b7999cc5994ac340ca1db62090 (github.com)</a:t>
            </a:r>
            <a:endParaRPr lang="en-US" dirty="0"/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552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r>
              <a:rPr lang="en-US" dirty="0"/>
              <a:t>REFERENCES</a:t>
            </a:r>
            <a:endParaRPr lang="en-US" dirty="0"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/>
              <a:t> https://tajdini.net/blog/penetration/active-directory-penetration-mind-map/</a:t>
            </a:r>
          </a:p>
          <a:p>
            <a:pPr lvl="1">
              <a:buFont typeface="Arial"/>
              <a:buChar char="•"/>
            </a:pPr>
            <a:r>
              <a:rPr lang="en-US" dirty="0"/>
              <a:t>https://tinyurl.com/ADMindmap</a:t>
            </a:r>
          </a:p>
          <a:p>
            <a:pPr>
              <a:buFont typeface="Arial"/>
              <a:buChar char="•"/>
            </a:pPr>
            <a:r>
              <a:rPr lang="en-US" dirty="0" err="1">
                <a:hlinkClick r:id="rId3"/>
              </a:rPr>
              <a:t>Impacket</a:t>
            </a:r>
            <a:r>
              <a:rPr lang="en-US" dirty="0">
                <a:hlinkClick r:id="rId3"/>
              </a:rPr>
              <a:t> and Exfiltration Tool Used to Steal Sensitive Information from Defense Industrial Base Organization | CISA</a:t>
            </a: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No-cost cyber hygiene services: </a:t>
            </a:r>
            <a:r>
              <a:rPr lang="en-US" dirty="0">
                <a:hlinkClick r:id="rId4"/>
              </a:rPr>
              <a:t>Cyber Hygiene Services</a:t>
            </a:r>
            <a:r>
              <a:rPr lang="en-US" dirty="0"/>
              <a:t> and Ransomware Readiness Assessment.</a:t>
            </a:r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r>
              <a:rPr lang="en-US" dirty="0" err="1">
                <a:hlinkClick r:id="rId5"/>
              </a:rPr>
              <a:t>FuzzySecurity</a:t>
            </a:r>
            <a:r>
              <a:rPr lang="en-US" dirty="0">
                <a:hlinkClick r:id="rId5"/>
              </a:rPr>
              <a:t>/WWHF-WayWest-2022 (github.com)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https://github.com/FuzzySecurity/WWHF-WayWest-2022</a:t>
            </a:r>
          </a:p>
          <a:p>
            <a:pPr>
              <a:buFont typeface="Arial"/>
              <a:buChar char="•"/>
            </a:pPr>
            <a:r>
              <a:rPr lang="en-US" dirty="0"/>
              <a:t>Slack cookies stealer</a:t>
            </a:r>
          </a:p>
          <a:p>
            <a:pPr>
              <a:buFont typeface="Arial"/>
              <a:buChar char="•"/>
            </a:pPr>
            <a:r>
              <a:rPr lang="en-US" dirty="0"/>
              <a:t>https://www.youtube.com/watch?v=63TA4qspUjI</a:t>
            </a:r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https://www.ninjaone.com/blog/sccm-vs-wsus-what-you-need-to-know/</a:t>
            </a:r>
          </a:p>
          <a:p>
            <a:pPr>
              <a:buFont typeface="Arial"/>
              <a:buChar char="•"/>
            </a:pPr>
            <a:r>
              <a:rPr lang="en-US" dirty="0"/>
              <a:t>WSUS</a:t>
            </a:r>
          </a:p>
          <a:p>
            <a:pPr lvl="1">
              <a:buFont typeface="Arial"/>
              <a:buChar char="•"/>
            </a:pPr>
            <a:r>
              <a:rPr lang="en-US" dirty="0"/>
              <a:t>https://labs.nettitude.com/blog/introducing-sharpwsus/</a:t>
            </a:r>
          </a:p>
          <a:p>
            <a:pPr lvl="2">
              <a:buFont typeface="Arial"/>
              <a:buChar char="•"/>
            </a:pPr>
            <a:r>
              <a:rPr lang="en-US" dirty="0"/>
              <a:t>https://github.com/nettitude/SharpWSUS</a:t>
            </a:r>
          </a:p>
          <a:p>
            <a:pPr lvl="2">
              <a:buFont typeface="Arial"/>
              <a:buChar char="•"/>
            </a:pPr>
            <a:r>
              <a:rPr lang="en-US" dirty="0"/>
              <a:t>https://github.com/ctxis/wsuspect-proxy</a:t>
            </a:r>
          </a:p>
          <a:p>
            <a:pPr lvl="1"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SCCM</a:t>
            </a:r>
          </a:p>
          <a:p>
            <a:pPr lvl="1">
              <a:buFont typeface="Arial"/>
              <a:buChar char="•"/>
            </a:pPr>
            <a:r>
              <a:rPr lang="en-US" dirty="0"/>
              <a:t>https://labs.nettitude.com/blog/introducing-malsccm/</a:t>
            </a:r>
          </a:p>
          <a:p>
            <a:pPr lvl="1">
              <a:buFont typeface="Arial"/>
              <a:buChar char="•"/>
            </a:pPr>
            <a:r>
              <a:rPr lang="en-US" dirty="0"/>
              <a:t>https://github.com/PowerShellMafia/PowerSCCM</a:t>
            </a:r>
          </a:p>
          <a:p>
            <a:pPr lvl="1">
              <a:buFont typeface="Arial"/>
              <a:buChar char="•"/>
            </a:pPr>
            <a:r>
              <a:rPr lang="en-US" dirty="0"/>
              <a:t>https://github.com/Mayyhem/SharpSCCM</a:t>
            </a:r>
          </a:p>
          <a:p>
            <a:pPr lvl="1">
              <a:buFont typeface="Arial"/>
              <a:buChar char="•"/>
            </a:pPr>
            <a:r>
              <a:rPr lang="en-US" dirty="0"/>
              <a:t>https://tools.thehacker.recipes/mimikatz/modules/dpapi/sccm</a:t>
            </a:r>
          </a:p>
          <a:p>
            <a:pPr lvl="1">
              <a:buFont typeface="Arial"/>
              <a:buChar char="•"/>
            </a:pPr>
            <a:r>
              <a:rPr lang="en-US" dirty="0"/>
              <a:t>https://github.com/GhostPack/SharpDPAPI</a:t>
            </a:r>
          </a:p>
          <a:p>
            <a:pPr lvl="1">
              <a:buFont typeface="Arial"/>
              <a:buChar char="•"/>
            </a:pPr>
            <a:r>
              <a:rPr lang="en-US" dirty="0"/>
              <a:t>https://posts.specterops.io/the-phantom-credentials-of-sccm-why-the-naa-wont-die-332ac7aa1ab9</a:t>
            </a:r>
          </a:p>
          <a:p>
            <a:pPr>
              <a:buFont typeface="Arial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807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https://tinyurl.com/JesseShare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https://1drv.ms/u/s!AvDzzfldf6vDguJMC8lHXD8FF7B1dA?e=KuBa05</a:t>
            </a:r>
          </a:p>
          <a:p>
            <a:endParaRPr lang="en-US" dirty="0"/>
          </a:p>
          <a:p>
            <a:r>
              <a:rPr lang="en-US" dirty="0"/>
              <a:t>Part 1: Ransomware Prevention Best Practices:</a:t>
            </a:r>
          </a:p>
          <a:p>
            <a:r>
              <a:rPr lang="en-US" dirty="0"/>
              <a:t>https://www.cisa.gov/stopransomware/ransomware-guide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141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Tips and Tactics: Ransomware (nist.gov)</a:t>
            </a:r>
            <a:endParaRPr lang="en-US" dirty="0"/>
          </a:p>
          <a:p>
            <a:r>
              <a:rPr lang="en-US" u="sng" dirty="0">
                <a:hlinkClick r:id="rId4"/>
              </a:rPr>
              <a:t>Release Ransomware Readiness Assessment CSET v10.3 · </a:t>
            </a:r>
            <a:r>
              <a:rPr lang="en-US" u="sng" dirty="0" err="1">
                <a:hlinkClick r:id="rId4"/>
              </a:rPr>
              <a:t>cisagov</a:t>
            </a:r>
            <a:r>
              <a:rPr lang="en-US" u="sng" dirty="0">
                <a:hlinkClick r:id="rId4"/>
              </a:rPr>
              <a:t>/</a:t>
            </a:r>
            <a:r>
              <a:rPr lang="en-US" u="sng" dirty="0" err="1">
                <a:hlinkClick r:id="rId4"/>
              </a:rPr>
              <a:t>cset</a:t>
            </a:r>
            <a:r>
              <a:rPr lang="en-US" u="sng" dirty="0">
                <a:hlinkClick r:id="rId4"/>
              </a:rPr>
              <a:t> (github.com)</a:t>
            </a:r>
            <a:endParaRPr lang="en-US" dirty="0"/>
          </a:p>
          <a:p>
            <a:r>
              <a:rPr lang="en-US" dirty="0"/>
              <a:t>CIS CSAT Ransomware Business Impact Analysis tool: </a:t>
            </a:r>
            <a:r>
              <a:rPr lang="en-US" dirty="0">
                <a:hlinkClick r:id="rId5"/>
              </a:rPr>
              <a:t>https://bia.cisecurity.org/?next=/dashboard/</a:t>
            </a:r>
            <a:endParaRPr lang="en-US" dirty="0">
              <a:cs typeface="Calibri"/>
              <a:hlinkClick r:id="rId5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ea typeface="Calibri" panose="020F0502020204030204"/>
              <a:cs typeface="Calibri"/>
            </a:endParaRPr>
          </a:p>
          <a:p>
            <a:r>
              <a:rPr lang="en-US" dirty="0">
                <a:ea typeface="Calibri" panose="020F0502020204030204"/>
                <a:cs typeface="Calibri"/>
              </a:rPr>
              <a:t>https://home.treasury.gov/system/files/126/ofac_ransomware_advisory_10012020_1.pdf</a:t>
            </a:r>
          </a:p>
          <a:p>
            <a:r>
              <a:rPr lang="en-US" dirty="0">
                <a:ea typeface="Calibri" panose="020F0502020204030204"/>
                <a:cs typeface="Calibri"/>
              </a:rPr>
              <a:t>https://iclg.com/practice-areas/sanctions/usa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5726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Ransomware Protection and Response | CSRC (nist.gov)</a:t>
            </a:r>
          </a:p>
          <a:p>
            <a:r>
              <a:rPr lang="en-US" dirty="0">
                <a:cs typeface="Calibri"/>
              </a:rPr>
              <a:t>CSET Video: </a:t>
            </a:r>
            <a:r>
              <a:rPr lang="en-US" dirty="0">
                <a:hlinkClick r:id="rId4"/>
              </a:rPr>
              <a:t>https://www.youtube.com/watch?v=ELbvQTl4xmU</a:t>
            </a:r>
            <a:endParaRPr lang="en-US" dirty="0">
              <a:cs typeface="Calibri"/>
              <a:hlinkClick r:id="rId4"/>
            </a:endParaRPr>
          </a:p>
          <a:p>
            <a:endParaRPr lang="en-US" dirty="0">
              <a:cs typeface="Calibri"/>
            </a:endParaRPr>
          </a:p>
          <a:p>
            <a:r>
              <a:rPr lang="en-US" dirty="0">
                <a:hlinkClick r:id="rId5"/>
              </a:rPr>
              <a:t>https://twitter.com/aprilmardock/status/1567316804112109568?s=20&amp;t=GIavTIJT-gqt8cxUkTt6bQ</a:t>
            </a:r>
            <a:endParaRPr lang="en-US" dirty="0">
              <a:cs typeface="Calibri"/>
              <a:hlinkClick r:id="rId5"/>
            </a:endParaRPr>
          </a:p>
          <a:p>
            <a:r>
              <a:rPr lang="en-US" dirty="0">
                <a:hlinkClick r:id="rId6"/>
              </a:rPr>
              <a:t>The Essentials — K12 SIX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5F3E3-E4A3-B743-B9A9-6B71BA371F4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906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68217F4-0F09-5846-AD19-A6CE08BF3AF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131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30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68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26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55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63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67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1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4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53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72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2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72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17F4-0F09-5846-AD19-A6CE08BF3AF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88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68217F4-0F09-5846-AD19-A6CE08BF3AF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189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68217F4-0F09-5846-AD19-A6CE08BF3AF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381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68217F4-0F09-5846-AD19-A6CE08BF3AF8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F679924-33E9-844D-A3F9-E413B0D18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394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jessefmoore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iso.uw.edu/education/outreach/workshops/#badthing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q=Docking+Station+with+Offline+Clone&amp;source=lnms&amp;tbm=isch&amp;sa=X&amp;ved=2ahUKEwiurYvB0IX6AhXlCjQIHbO9Br8Q_AUoA3oECAEQBQ&amp;biw=2155&amp;bih=1096&amp;dpr=1" TargetMode="External"/><Relationship Id="rId3" Type="http://schemas.openxmlformats.org/officeDocument/2006/relationships/hyperlink" Target="https://screencast-o-matic.com/watch/c3Qv34VtipM" TargetMode="External"/><Relationship Id="rId7" Type="http://schemas.openxmlformats.org/officeDocument/2006/relationships/hyperlink" Target="https://home.sophos.com/en-u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hyperlink" Target="https://support.microsoft.com/en-us/windows/turn-on-device-encryption-0c453637-bc88-5f74-5105-741561aae838" TargetMode="External"/><Relationship Id="rId4" Type="http://schemas.openxmlformats.org/officeDocument/2006/relationships/hyperlink" Target="https://support.apple.com/guide/mac-help/encrypt-mac-data-with-filevault-mh11785/mac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wfRxjV2wok" TargetMode="Externa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inyurl.com/WSBloodHound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WSBloodHound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hedfirreport.com/" TargetMode="External"/><Relationship Id="rId5" Type="http://schemas.openxmlformats.org/officeDocument/2006/relationships/hyperlink" Target="https://www.cisa.gov/uscert/ncas/alerts/aa22-249a" TargetMode="Externa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hyperlink" Target="https://tinyurl.com/wazuhWS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inyurl.com/RansomWS" TargetMode="External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witter.com/jessefmoore" TargetMode="Externa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29.png"/><Relationship Id="rId21" Type="http://schemas.openxmlformats.org/officeDocument/2006/relationships/hyperlink" Target="https://www.microsoft.com/security/blog/2020/04/28/ransomware-groups-continue-to-target-healthcare-critical-services-heres-how-to-reduce-risk/" TargetMode="External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42.png"/><Relationship Id="rId20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a.gov/stopransomware/ransomware-guide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inyurl.com/ADMindmap" TargetMode="Externa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JesseShare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moorej1@uw.edu" TargetMode="External"/><Relationship Id="rId5" Type="http://schemas.openxmlformats.org/officeDocument/2006/relationships/hyperlink" Target="mailto:jessefmoore@gmail.com" TargetMode="External"/><Relationship Id="rId4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isagov/cset/releases/tag/v10.3.0.0" TargetMode="External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hyperlink" Target="https://csrc.nist.gov/projects/ransomware-protection-and-respons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A746-C3E6-534F-98DC-C80B7D9CD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9789106" cy="1223628"/>
          </a:xfrm>
        </p:spPr>
        <p:txBody>
          <a:bodyPr/>
          <a:lstStyle/>
          <a:p>
            <a:r>
              <a:rPr lang="en-US" sz="3200" b="1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Misconfigurations Cyber Criminals hope you missed in Active Directory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298455A0-A4FB-BB68-C636-39A5EECFEB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9990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3E5AA-D963-E706-1AEE-3D5127C04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Disclaimer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C1E47-1664-67AB-0CC8-B55D10ECD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Following presentation contains my thoughts, ideas and </a:t>
            </a:r>
            <a:r>
              <a:rPr lang="en-US" b="1" u="sng">
                <a:solidFill>
                  <a:schemeClr val="tx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opinions</a:t>
            </a:r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. They do not represent those of my current or past employers.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  <a:ea typeface="+mn-lt"/>
              <a:cs typeface="+mn-lt"/>
            </a:endParaRPr>
          </a:p>
          <a:p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Any events, characters and company depicted in the course of this presentation are purely fictitious. Any similarity to actual events, characters and company is </a:t>
            </a:r>
            <a:r>
              <a:rPr lang="en-US" b="1" u="sng">
                <a:solidFill>
                  <a:schemeClr val="tx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merely coincidental</a:t>
            </a:r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. &lt;-Like South Park!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  <a:ea typeface="+mn-lt"/>
              <a:cs typeface="+mn-lt"/>
            </a:endParaRPr>
          </a:p>
          <a:p>
            <a:r>
              <a:rPr lang="en-US" b="1" u="sng">
                <a:solidFill>
                  <a:schemeClr val="tx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Do not </a:t>
            </a:r>
            <a:r>
              <a:rPr lang="en-US" b="1">
                <a:solidFill>
                  <a:schemeClr val="tx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use these tactics/techniques presented for evil.</a:t>
            </a:r>
          </a:p>
        </p:txBody>
      </p:sp>
    </p:spTree>
    <p:extLst>
      <p:ext uri="{BB962C8B-B14F-4D97-AF65-F5344CB8AC3E}">
        <p14:creationId xmlns:p14="http://schemas.microsoft.com/office/powerpoint/2010/main" val="2456526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5E3C2-FD24-158F-200A-2B97628F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3D6478-3354-DE4E-D8DE-C7B9A97C31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3840" y="438662"/>
            <a:ext cx="11416938" cy="803219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2CD91D-73FE-618A-CEC3-4F19DBCE6A3F}"/>
              </a:ext>
            </a:extLst>
          </p:cNvPr>
          <p:cNvSpPr txBox="1"/>
          <p:nvPr/>
        </p:nvSpPr>
        <p:spPr>
          <a:xfrm>
            <a:off x="6791093" y="4521746"/>
            <a:ext cx="3568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https://tinyurl.com/cisotweet</a:t>
            </a:r>
          </a:p>
        </p:txBody>
      </p:sp>
    </p:spTree>
    <p:extLst>
      <p:ext uri="{BB962C8B-B14F-4D97-AF65-F5344CB8AC3E}">
        <p14:creationId xmlns:p14="http://schemas.microsoft.com/office/powerpoint/2010/main" val="3541833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3033-5BE4-7912-9BA8-5E264077B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616879" cy="706964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Security Projects (Security Pan/Program?)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E34E4D-ADA3-91F9-A517-CF4AB7FFC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05" y="1440652"/>
            <a:ext cx="10470989" cy="86961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307DE6-D93E-114E-19F2-549BFD04D615}"/>
              </a:ext>
            </a:extLst>
          </p:cNvPr>
          <p:cNvSpPr txBox="1"/>
          <p:nvPr/>
        </p:nvSpPr>
        <p:spPr>
          <a:xfrm>
            <a:off x="6265712" y="0"/>
            <a:ext cx="522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https://tinyurl.com/xlsProj</a:t>
            </a:r>
          </a:p>
        </p:txBody>
      </p:sp>
    </p:spTree>
    <p:extLst>
      <p:ext uri="{BB962C8B-B14F-4D97-AF65-F5344CB8AC3E}">
        <p14:creationId xmlns:p14="http://schemas.microsoft.com/office/powerpoint/2010/main" val="257860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9EA2611-DCBA-4E97-A2B2-9A466E76B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BC615D1-6E12-40EF-915B-316CFDB55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B9797D36-DE1E-47CD-881A-6C1F5828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537676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A9351-151C-4D96-A47C-808D6ADFA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6072776" cy="162232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Who is this?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2FAF1F-F462-46AF-A9E6-CC93C4E2C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146BED8-BAE9-42C5-A3DD-7B946445D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5765FE8-B62F-41E4-A73C-74C91A8FD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3F2FF20-E037-4733-BF37-3D8AEF6F1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392" y="2142963"/>
            <a:ext cx="6359741" cy="877063"/>
          </a:xfrm>
        </p:spPr>
        <p:txBody>
          <a:bodyPr anchor="ctr">
            <a:normAutofit lnSpcReduction="10000"/>
          </a:bodyPr>
          <a:lstStyle/>
          <a:p>
            <a:pPr lvl="1">
              <a:spcBef>
                <a:spcPts val="0"/>
              </a:spcBef>
            </a:pP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Currently</a:t>
            </a:r>
            <a:r>
              <a:rPr lang="en-US" i="1" dirty="0">
                <a:ea typeface="+mn-lt"/>
                <a:cs typeface="+mn-lt"/>
              </a:rPr>
              <a:t>: </a:t>
            </a:r>
            <a:endParaRPr lang="en-US" sz="1800" dirty="0">
              <a:solidFill>
                <a:schemeClr val="tx1"/>
              </a:solidFill>
              <a:ea typeface="+mn-lt"/>
              <a:cs typeface="+mn-lt"/>
            </a:endParaRPr>
          </a:p>
          <a:p>
            <a:pPr marL="1257300" lvl="2">
              <a:spcBef>
                <a:spcPts val="0"/>
              </a:spcBef>
              <a:buFont typeface="Arial,Sans-Serif" charset="2"/>
              <a:buChar char="•"/>
            </a:pP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Proud Pet Parent!!! --&gt;Rocky</a:t>
            </a:r>
          </a:p>
          <a:p>
            <a:pPr marL="1257300" lvl="2">
              <a:spcBef>
                <a:spcPts val="0"/>
              </a:spcBef>
              <a:buFont typeface="Arial,Sans-Serif" charset="2"/>
              <a:buChar char="•"/>
            </a:pP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Sr. Cybersecurity Advisor</a:t>
            </a:r>
          </a:p>
          <a:p>
            <a:pPr marL="1028700" lvl="2" indent="0">
              <a:spcBef>
                <a:spcPts val="0"/>
              </a:spcBef>
              <a:buNone/>
            </a:pPr>
            <a:endParaRPr lang="en-US" sz="1800" dirty="0">
              <a:solidFill>
                <a:schemeClr val="tx1"/>
              </a:solidFill>
              <a:ea typeface="+mn-lt"/>
              <a:cs typeface="+mn-lt"/>
            </a:endParaRPr>
          </a:p>
          <a:p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DF1DDF-4185-4057-B25F-459EEDA520E4}"/>
              </a:ext>
            </a:extLst>
          </p:cNvPr>
          <p:cNvSpPr txBox="1"/>
          <p:nvPr/>
        </p:nvSpPr>
        <p:spPr>
          <a:xfrm>
            <a:off x="660788" y="4533724"/>
            <a:ext cx="671844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i="1" dirty="0">
                <a:ea typeface="+mn-lt"/>
                <a:cs typeface="+mn-lt"/>
              </a:rPr>
              <a:t>Education:</a:t>
            </a:r>
            <a:endParaRPr lang="en-US" dirty="0">
              <a:ea typeface="+mn-lt"/>
              <a:cs typeface="+mn-lt"/>
            </a:endParaRPr>
          </a:p>
          <a:p>
            <a:pPr marL="1257300" lvl="2" indent="-342900">
              <a:buFont typeface="Arial,Sans-Serif"/>
              <a:buChar char="•"/>
            </a:pPr>
            <a:r>
              <a:rPr lang="en-US" dirty="0">
                <a:ea typeface="+mn-lt"/>
                <a:cs typeface="+mn-lt"/>
              </a:rPr>
              <a:t>Master of Science, Cybersecurity &amp; Info Assurance</a:t>
            </a:r>
          </a:p>
          <a:p>
            <a:pPr marL="1257300" lvl="2" indent="-342900">
              <a:buFont typeface="Arial,Sans-Serif"/>
              <a:buChar char="•"/>
            </a:pPr>
            <a:r>
              <a:rPr lang="en-US" dirty="0">
                <a:ea typeface="+mn-lt"/>
                <a:cs typeface="+mn-lt"/>
              </a:rPr>
              <a:t>50+ Industry Certifications</a:t>
            </a:r>
            <a:endParaRPr lang="en-US" dirty="0"/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5A26AE6B-96AD-42B2-ACF0-820CA76F24FF}"/>
              </a:ext>
            </a:extLst>
          </p:cNvPr>
          <p:cNvSpPr txBox="1">
            <a:spLocks/>
          </p:cNvSpPr>
          <p:nvPr/>
        </p:nvSpPr>
        <p:spPr>
          <a:xfrm>
            <a:off x="553186" y="5746905"/>
            <a:ext cx="8197114" cy="74658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000" dirty="0">
                <a:hlinkClick r:id="rId3"/>
              </a:rPr>
              <a:t>https://www.linkedin.com/in/jessefmoore/</a:t>
            </a:r>
            <a:endParaRPr lang="en-US" sz="2000" dirty="0">
              <a:cs typeface="Calibri"/>
            </a:endParaRPr>
          </a:p>
          <a:p>
            <a:pPr lvl="1"/>
            <a:endParaRPr lang="en-US" sz="2000" dirty="0">
              <a:cs typeface="Calibri"/>
            </a:endParaRPr>
          </a:p>
          <a:p>
            <a:pPr lvl="1"/>
            <a:endParaRPr lang="en-US" sz="2000" dirty="0">
              <a:cs typeface="Calibri"/>
            </a:endParaRPr>
          </a:p>
          <a:p>
            <a:pPr lvl="1"/>
            <a:endParaRPr lang="en-US" sz="2000" dirty="0"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8B3764-4175-46BE-924C-8F189854753D}"/>
              </a:ext>
            </a:extLst>
          </p:cNvPr>
          <p:cNvSpPr txBox="1"/>
          <p:nvPr/>
        </p:nvSpPr>
        <p:spPr>
          <a:xfrm>
            <a:off x="1825025" y="2781923"/>
            <a:ext cx="52059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SIEM as a Service</a:t>
            </a:r>
            <a:endParaRPr lang="en-US" dirty="0"/>
          </a:p>
        </p:txBody>
      </p:sp>
      <p:pic>
        <p:nvPicPr>
          <p:cNvPr id="4" name="Picture 4" descr="A dog on a boat&#10;&#10;Description automatically generated">
            <a:extLst>
              <a:ext uri="{FF2B5EF4-FFF2-40B4-BE49-F238E27FC236}">
                <a16:creationId xmlns:a16="http://schemas.microsoft.com/office/drawing/2014/main" id="{BF3B8314-02DD-49C9-B1EE-9FEE9B0BC8B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816" b="9816"/>
          <a:stretch/>
        </p:blipFill>
        <p:spPr>
          <a:xfrm>
            <a:off x="6774511" y="480060"/>
            <a:ext cx="4929808" cy="5897880"/>
          </a:xfrm>
          <a:custGeom>
            <a:avLst/>
            <a:gdLst/>
            <a:ahLst/>
            <a:cxnLst/>
            <a:rect l="l" t="t" r="r" b="b"/>
            <a:pathLst>
              <a:path w="4929808" h="5897880">
                <a:moveTo>
                  <a:pt x="104535" y="0"/>
                </a:moveTo>
                <a:lnTo>
                  <a:pt x="2751151" y="0"/>
                </a:lnTo>
                <a:lnTo>
                  <a:pt x="4769032" y="0"/>
                </a:lnTo>
                <a:lnTo>
                  <a:pt x="4929808" y="0"/>
                </a:lnTo>
                <a:lnTo>
                  <a:pt x="4929808" y="5897880"/>
                </a:lnTo>
                <a:lnTo>
                  <a:pt x="4769032" y="5897880"/>
                </a:lnTo>
                <a:lnTo>
                  <a:pt x="2751151" y="5897880"/>
                </a:lnTo>
                <a:lnTo>
                  <a:pt x="0" y="5897880"/>
                </a:lnTo>
                <a:lnTo>
                  <a:pt x="0" y="5896985"/>
                </a:lnTo>
                <a:lnTo>
                  <a:pt x="103291" y="5896985"/>
                </a:lnTo>
                <a:lnTo>
                  <a:pt x="112340" y="5838313"/>
                </a:lnTo>
                <a:lnTo>
                  <a:pt x="123631" y="5762037"/>
                </a:lnTo>
                <a:lnTo>
                  <a:pt x="135550" y="5671232"/>
                </a:lnTo>
                <a:lnTo>
                  <a:pt x="149820" y="5563476"/>
                </a:lnTo>
                <a:lnTo>
                  <a:pt x="164875" y="5444219"/>
                </a:lnTo>
                <a:lnTo>
                  <a:pt x="180714" y="5309828"/>
                </a:lnTo>
                <a:lnTo>
                  <a:pt x="197494" y="5163329"/>
                </a:lnTo>
                <a:lnTo>
                  <a:pt x="214273" y="5004117"/>
                </a:lnTo>
                <a:lnTo>
                  <a:pt x="231367" y="4834615"/>
                </a:lnTo>
                <a:lnTo>
                  <a:pt x="247205" y="4651794"/>
                </a:lnTo>
                <a:lnTo>
                  <a:pt x="262417" y="4460498"/>
                </a:lnTo>
                <a:lnTo>
                  <a:pt x="276217" y="4258305"/>
                </a:lnTo>
                <a:lnTo>
                  <a:pt x="289390" y="4047637"/>
                </a:lnTo>
                <a:lnTo>
                  <a:pt x="301779" y="3827889"/>
                </a:lnTo>
                <a:lnTo>
                  <a:pt x="306170" y="3715291"/>
                </a:lnTo>
                <a:lnTo>
                  <a:pt x="311031" y="3600271"/>
                </a:lnTo>
                <a:lnTo>
                  <a:pt x="315579" y="3483435"/>
                </a:lnTo>
                <a:lnTo>
                  <a:pt x="318558" y="3365994"/>
                </a:lnTo>
                <a:lnTo>
                  <a:pt x="321224" y="3246131"/>
                </a:lnTo>
                <a:lnTo>
                  <a:pt x="324047" y="3125058"/>
                </a:lnTo>
                <a:lnTo>
                  <a:pt x="325929" y="3001563"/>
                </a:lnTo>
                <a:lnTo>
                  <a:pt x="325929" y="2876858"/>
                </a:lnTo>
                <a:lnTo>
                  <a:pt x="326870" y="2750941"/>
                </a:lnTo>
                <a:lnTo>
                  <a:pt x="325929" y="2623814"/>
                </a:lnTo>
                <a:lnTo>
                  <a:pt x="324047" y="2494871"/>
                </a:lnTo>
                <a:lnTo>
                  <a:pt x="322322" y="2365928"/>
                </a:lnTo>
                <a:lnTo>
                  <a:pt x="318558" y="2235169"/>
                </a:lnTo>
                <a:lnTo>
                  <a:pt x="314638" y="2103199"/>
                </a:lnTo>
                <a:lnTo>
                  <a:pt x="310090" y="1971229"/>
                </a:lnTo>
                <a:lnTo>
                  <a:pt x="303660" y="1838048"/>
                </a:lnTo>
                <a:lnTo>
                  <a:pt x="295976" y="1703656"/>
                </a:lnTo>
                <a:lnTo>
                  <a:pt x="288606" y="1568660"/>
                </a:lnTo>
                <a:lnTo>
                  <a:pt x="279197" y="1433663"/>
                </a:lnTo>
                <a:lnTo>
                  <a:pt x="267906" y="1296850"/>
                </a:lnTo>
                <a:lnTo>
                  <a:pt x="256615" y="1161853"/>
                </a:lnTo>
                <a:lnTo>
                  <a:pt x="243598" y="1024435"/>
                </a:lnTo>
                <a:lnTo>
                  <a:pt x="229328" y="886411"/>
                </a:lnTo>
                <a:lnTo>
                  <a:pt x="214273" y="750203"/>
                </a:lnTo>
                <a:lnTo>
                  <a:pt x="196709" y="612180"/>
                </a:lnTo>
                <a:lnTo>
                  <a:pt x="177891" y="474761"/>
                </a:lnTo>
                <a:lnTo>
                  <a:pt x="159229" y="336738"/>
                </a:lnTo>
                <a:lnTo>
                  <a:pt x="137432" y="199320"/>
                </a:lnTo>
                <a:lnTo>
                  <a:pt x="115163" y="62507"/>
                </a:lnTo>
                <a:close/>
              </a:path>
            </a:pathLst>
          </a:cu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C42073-8780-8F2D-74F1-280429282A03}"/>
              </a:ext>
            </a:extLst>
          </p:cNvPr>
          <p:cNvSpPr txBox="1"/>
          <p:nvPr/>
        </p:nvSpPr>
        <p:spPr>
          <a:xfrm>
            <a:off x="1831875" y="3066107"/>
            <a:ext cx="52059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Vulnerability Service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8FDF54-AA39-4535-E5FC-2F262FB980CD}"/>
              </a:ext>
            </a:extLst>
          </p:cNvPr>
          <p:cNvSpPr txBox="1"/>
          <p:nvPr/>
        </p:nvSpPr>
        <p:spPr>
          <a:xfrm>
            <a:off x="1844552" y="3738769"/>
            <a:ext cx="520593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Implement Cybersecurity initiatives </a:t>
            </a:r>
            <a:r>
              <a:rPr lang="en-US" dirty="0" err="1"/>
              <a:t>WuFB</a:t>
            </a:r>
            <a:r>
              <a:rPr lang="en-US" dirty="0"/>
              <a:t>, LAPS, Secure GPOs, IR, Backups BC/DR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B01C00-297B-3C9E-E119-2458ECCB7BF3}"/>
              </a:ext>
            </a:extLst>
          </p:cNvPr>
          <p:cNvSpPr txBox="1"/>
          <p:nvPr/>
        </p:nvSpPr>
        <p:spPr>
          <a:xfrm>
            <a:off x="1844552" y="3422114"/>
            <a:ext cx="52059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Digital Forensics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A1B79A-AF69-ECAD-EA85-D2BB861F6759}"/>
              </a:ext>
            </a:extLst>
          </p:cNvPr>
          <p:cNvSpPr txBox="1"/>
          <p:nvPr/>
        </p:nvSpPr>
        <p:spPr>
          <a:xfrm>
            <a:off x="1031655" y="2531643"/>
            <a:ext cx="3185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Past….</a:t>
            </a:r>
          </a:p>
        </p:txBody>
      </p:sp>
    </p:spTree>
    <p:extLst>
      <p:ext uri="{BB962C8B-B14F-4D97-AF65-F5344CB8AC3E}">
        <p14:creationId xmlns:p14="http://schemas.microsoft.com/office/powerpoint/2010/main" val="9127366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  <p:bldP spid="14" grpId="0"/>
      <p:bldP spid="7" grpId="0"/>
      <p:bldP spid="9" grpId="0"/>
      <p:bldP spid="10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9EA2611-DCBA-4E97-A2B2-9A466E76B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BC615D1-6E12-40EF-915B-316CFDB55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B9797D36-DE1E-47CD-881A-6C1F5828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537676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A9351-151C-4D96-A47C-808D6ADFA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6072776" cy="16223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2FAF1F-F462-46AF-A9E6-CC93C4E2C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146BED8-BAE9-42C5-A3DD-7B946445D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5765FE8-B62F-41E4-A73C-74C91A8FD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5A26AE6B-96AD-42B2-ACF0-820CA76F24FF}"/>
              </a:ext>
            </a:extLst>
          </p:cNvPr>
          <p:cNvSpPr txBox="1">
            <a:spLocks/>
          </p:cNvSpPr>
          <p:nvPr/>
        </p:nvSpPr>
        <p:spPr>
          <a:xfrm>
            <a:off x="553186" y="5746905"/>
            <a:ext cx="8197114" cy="74658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sz="2000" dirty="0">
              <a:cs typeface="Calibri"/>
            </a:endParaRPr>
          </a:p>
          <a:p>
            <a:pPr lvl="1"/>
            <a:endParaRPr lang="en-US" sz="2000" dirty="0">
              <a:cs typeface="Calibri"/>
            </a:endParaRPr>
          </a:p>
          <a:p>
            <a:pPr lvl="1"/>
            <a:endParaRPr lang="en-US" sz="2000" dirty="0">
              <a:cs typeface="Calibri"/>
            </a:endParaRPr>
          </a:p>
          <a:p>
            <a:pPr lvl="1"/>
            <a:endParaRPr lang="en-US" sz="2000" dirty="0"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8B3764-4175-46BE-924C-8F189854753D}"/>
              </a:ext>
            </a:extLst>
          </p:cNvPr>
          <p:cNvSpPr txBox="1"/>
          <p:nvPr/>
        </p:nvSpPr>
        <p:spPr>
          <a:xfrm>
            <a:off x="1264718" y="2018040"/>
            <a:ext cx="52059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Find Active Directory </a:t>
            </a:r>
            <a:r>
              <a:rPr lang="en-US" dirty="0" err="1">
                <a:ea typeface="+mn-lt"/>
                <a:cs typeface="+mn-lt"/>
              </a:rPr>
              <a:t>Misconfigs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52ABEC-8307-C253-FF35-7C2B647B1418}"/>
              </a:ext>
            </a:extLst>
          </p:cNvPr>
          <p:cNvSpPr txBox="1"/>
          <p:nvPr/>
        </p:nvSpPr>
        <p:spPr>
          <a:xfrm>
            <a:off x="1250131" y="2426120"/>
            <a:ext cx="52059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Help stop worrying if news items affect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AD4F0B-E119-4613-C34E-0277D02F8417}"/>
              </a:ext>
            </a:extLst>
          </p:cNvPr>
          <p:cNvSpPr txBox="1"/>
          <p:nvPr/>
        </p:nvSpPr>
        <p:spPr>
          <a:xfrm>
            <a:off x="1264718" y="2855338"/>
            <a:ext cx="52059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Workshop material for Admins</a:t>
            </a:r>
          </a:p>
        </p:txBody>
      </p:sp>
    </p:spTree>
    <p:extLst>
      <p:ext uri="{BB962C8B-B14F-4D97-AF65-F5344CB8AC3E}">
        <p14:creationId xmlns:p14="http://schemas.microsoft.com/office/powerpoint/2010/main" val="1940880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7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4D40B773-7B09-4CA5-ACEF-6D8094970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9680A730-D307-4619-A089-699C8994C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00913" y="588083"/>
            <a:ext cx="6053670" cy="5681834"/>
          </a:xfrm>
          <a:custGeom>
            <a:avLst/>
            <a:gdLst>
              <a:gd name="connsiteX0" fmla="*/ 6053670 w 6053670"/>
              <a:gd name="connsiteY0" fmla="*/ 1098 h 5681834"/>
              <a:gd name="connsiteX1" fmla="*/ 6053670 w 6053670"/>
              <a:gd name="connsiteY1" fmla="*/ 1012899 h 5681834"/>
              <a:gd name="connsiteX2" fmla="*/ 6053670 w 6053670"/>
              <a:gd name="connsiteY2" fmla="*/ 1254558 h 5681834"/>
              <a:gd name="connsiteX3" fmla="*/ 6053670 w 6053670"/>
              <a:gd name="connsiteY3" fmla="*/ 5681834 h 5681834"/>
              <a:gd name="connsiteX4" fmla="*/ 0 w 6053670"/>
              <a:gd name="connsiteY4" fmla="*/ 5681834 h 5681834"/>
              <a:gd name="connsiteX5" fmla="*/ 0 w 6053670"/>
              <a:gd name="connsiteY5" fmla="*/ 1249853 h 5681834"/>
              <a:gd name="connsiteX6" fmla="*/ 0 w 6053670"/>
              <a:gd name="connsiteY6" fmla="*/ 1012899 h 5681834"/>
              <a:gd name="connsiteX7" fmla="*/ 0 w 6053670"/>
              <a:gd name="connsiteY7" fmla="*/ 0 h 5681834"/>
              <a:gd name="connsiteX8" fmla="*/ 35717 w 6053670"/>
              <a:gd name="connsiteY8" fmla="*/ 5488 h 5681834"/>
              <a:gd name="connsiteX9" fmla="*/ 140445 w 6053670"/>
              <a:gd name="connsiteY9" fmla="*/ 21641 h 5681834"/>
              <a:gd name="connsiteX10" fmla="*/ 216722 w 6053670"/>
              <a:gd name="connsiteY10" fmla="*/ 32932 h 5681834"/>
              <a:gd name="connsiteX11" fmla="*/ 307527 w 6053670"/>
              <a:gd name="connsiteY11" fmla="*/ 44850 h 5681834"/>
              <a:gd name="connsiteX12" fmla="*/ 415282 w 6053670"/>
              <a:gd name="connsiteY12" fmla="*/ 59121 h 5681834"/>
              <a:gd name="connsiteX13" fmla="*/ 534539 w 6053670"/>
              <a:gd name="connsiteY13" fmla="*/ 74175 h 5681834"/>
              <a:gd name="connsiteX14" fmla="*/ 668931 w 6053670"/>
              <a:gd name="connsiteY14" fmla="*/ 90014 h 5681834"/>
              <a:gd name="connsiteX15" fmla="*/ 815430 w 6053670"/>
              <a:gd name="connsiteY15" fmla="*/ 106794 h 5681834"/>
              <a:gd name="connsiteX16" fmla="*/ 974641 w 6053670"/>
              <a:gd name="connsiteY16" fmla="*/ 123574 h 5681834"/>
              <a:gd name="connsiteX17" fmla="*/ 1144144 w 6053670"/>
              <a:gd name="connsiteY17" fmla="*/ 140667 h 5681834"/>
              <a:gd name="connsiteX18" fmla="*/ 1326965 w 6053670"/>
              <a:gd name="connsiteY18" fmla="*/ 156506 h 5681834"/>
              <a:gd name="connsiteX19" fmla="*/ 1518261 w 6053670"/>
              <a:gd name="connsiteY19" fmla="*/ 171717 h 5681834"/>
              <a:gd name="connsiteX20" fmla="*/ 1720453 w 6053670"/>
              <a:gd name="connsiteY20" fmla="*/ 185518 h 5681834"/>
              <a:gd name="connsiteX21" fmla="*/ 1931121 w 6053670"/>
              <a:gd name="connsiteY21" fmla="*/ 198690 h 5681834"/>
              <a:gd name="connsiteX22" fmla="*/ 2150869 w 6053670"/>
              <a:gd name="connsiteY22" fmla="*/ 211079 h 5681834"/>
              <a:gd name="connsiteX23" fmla="*/ 2263467 w 6053670"/>
              <a:gd name="connsiteY23" fmla="*/ 215470 h 5681834"/>
              <a:gd name="connsiteX24" fmla="*/ 2378487 w 6053670"/>
              <a:gd name="connsiteY24" fmla="*/ 220332 h 5681834"/>
              <a:gd name="connsiteX25" fmla="*/ 2495323 w 6053670"/>
              <a:gd name="connsiteY25" fmla="*/ 224879 h 5681834"/>
              <a:gd name="connsiteX26" fmla="*/ 2612764 w 6053670"/>
              <a:gd name="connsiteY26" fmla="*/ 227859 h 5681834"/>
              <a:gd name="connsiteX27" fmla="*/ 2732627 w 6053670"/>
              <a:gd name="connsiteY27" fmla="*/ 230525 h 5681834"/>
              <a:gd name="connsiteX28" fmla="*/ 2853700 w 6053670"/>
              <a:gd name="connsiteY28" fmla="*/ 233348 h 5681834"/>
              <a:gd name="connsiteX29" fmla="*/ 2977195 w 6053670"/>
              <a:gd name="connsiteY29" fmla="*/ 235229 h 5681834"/>
              <a:gd name="connsiteX30" fmla="*/ 3101901 w 6053670"/>
              <a:gd name="connsiteY30" fmla="*/ 235229 h 5681834"/>
              <a:gd name="connsiteX31" fmla="*/ 3227817 w 6053670"/>
              <a:gd name="connsiteY31" fmla="*/ 236170 h 5681834"/>
              <a:gd name="connsiteX32" fmla="*/ 3354944 w 6053670"/>
              <a:gd name="connsiteY32" fmla="*/ 235229 h 5681834"/>
              <a:gd name="connsiteX33" fmla="*/ 3483887 w 6053670"/>
              <a:gd name="connsiteY33" fmla="*/ 233348 h 5681834"/>
              <a:gd name="connsiteX34" fmla="*/ 3612830 w 6053670"/>
              <a:gd name="connsiteY34" fmla="*/ 231623 h 5681834"/>
              <a:gd name="connsiteX35" fmla="*/ 3743590 w 6053670"/>
              <a:gd name="connsiteY35" fmla="*/ 227859 h 5681834"/>
              <a:gd name="connsiteX36" fmla="*/ 3875560 w 6053670"/>
              <a:gd name="connsiteY36" fmla="*/ 223938 h 5681834"/>
              <a:gd name="connsiteX37" fmla="*/ 4007530 w 6053670"/>
              <a:gd name="connsiteY37" fmla="*/ 219391 h 5681834"/>
              <a:gd name="connsiteX38" fmla="*/ 4140710 w 6053670"/>
              <a:gd name="connsiteY38" fmla="*/ 212961 h 5681834"/>
              <a:gd name="connsiteX39" fmla="*/ 4275102 w 6053670"/>
              <a:gd name="connsiteY39" fmla="*/ 205277 h 5681834"/>
              <a:gd name="connsiteX40" fmla="*/ 4410098 w 6053670"/>
              <a:gd name="connsiteY40" fmla="*/ 197907 h 5681834"/>
              <a:gd name="connsiteX41" fmla="*/ 4545096 w 6053670"/>
              <a:gd name="connsiteY41" fmla="*/ 188498 h 5681834"/>
              <a:gd name="connsiteX42" fmla="*/ 4681909 w 6053670"/>
              <a:gd name="connsiteY42" fmla="*/ 177207 h 5681834"/>
              <a:gd name="connsiteX43" fmla="*/ 4816905 w 6053670"/>
              <a:gd name="connsiteY43" fmla="*/ 165916 h 5681834"/>
              <a:gd name="connsiteX44" fmla="*/ 4954323 w 6053670"/>
              <a:gd name="connsiteY44" fmla="*/ 152899 h 5681834"/>
              <a:gd name="connsiteX45" fmla="*/ 5092347 w 6053670"/>
              <a:gd name="connsiteY45" fmla="*/ 138629 h 5681834"/>
              <a:gd name="connsiteX46" fmla="*/ 5228555 w 6053670"/>
              <a:gd name="connsiteY46" fmla="*/ 123574 h 5681834"/>
              <a:gd name="connsiteX47" fmla="*/ 5366578 w 6053670"/>
              <a:gd name="connsiteY47" fmla="*/ 106010 h 5681834"/>
              <a:gd name="connsiteX48" fmla="*/ 5503997 w 6053670"/>
              <a:gd name="connsiteY48" fmla="*/ 87192 h 5681834"/>
              <a:gd name="connsiteX49" fmla="*/ 5642020 w 6053670"/>
              <a:gd name="connsiteY49" fmla="*/ 68530 h 5681834"/>
              <a:gd name="connsiteX50" fmla="*/ 5779438 w 6053670"/>
              <a:gd name="connsiteY50" fmla="*/ 46733 h 5681834"/>
              <a:gd name="connsiteX51" fmla="*/ 5916251 w 6053670"/>
              <a:gd name="connsiteY51" fmla="*/ 24464 h 568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681834">
                <a:moveTo>
                  <a:pt x="6053670" y="1098"/>
                </a:moveTo>
                <a:lnTo>
                  <a:pt x="6053670" y="1012899"/>
                </a:lnTo>
                <a:lnTo>
                  <a:pt x="6053670" y="1254558"/>
                </a:lnTo>
                <a:lnTo>
                  <a:pt x="6053670" y="5681834"/>
                </a:lnTo>
                <a:lnTo>
                  <a:pt x="0" y="5681834"/>
                </a:lnTo>
                <a:lnTo>
                  <a:pt x="0" y="1249853"/>
                </a:lnTo>
                <a:lnTo>
                  <a:pt x="0" y="101289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Freeform 5">
            <a:extLst>
              <a:ext uri="{FF2B5EF4-FFF2-40B4-BE49-F238E27FC236}">
                <a16:creationId xmlns:a16="http://schemas.microsoft.com/office/drawing/2014/main" id="{9768AB41-1F45-4D7D-8E9F-F32F00C12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Freeform 5">
            <a:extLst>
              <a:ext uri="{FF2B5EF4-FFF2-40B4-BE49-F238E27FC236}">
                <a16:creationId xmlns:a16="http://schemas.microsoft.com/office/drawing/2014/main" id="{22CC7380-78F8-4871-A3DB-C4F04F396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598383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11D80B-4712-F143-B590-5FC825E3C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373877" cy="162232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What has Jesse Been up to?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4FA2E53-B132-494A-BD39-D0FF6158E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CE946-0280-0746-85E1-BDFC32FF3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5373877" cy="792769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Since we last met…</a:t>
            </a:r>
          </a:p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CC27DC-6126-4F60-8F40-73179A5F03AB}"/>
              </a:ext>
            </a:extLst>
          </p:cNvPr>
          <p:cNvSpPr txBox="1"/>
          <p:nvPr/>
        </p:nvSpPr>
        <p:spPr>
          <a:xfrm>
            <a:off x="479204" y="3092749"/>
            <a:ext cx="6442003" cy="7232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I’ve been working on </a:t>
            </a:r>
            <a:r>
              <a:rPr lang="en-US" i="1" dirty="0"/>
              <a:t>building </a:t>
            </a:r>
            <a:r>
              <a:rPr lang="en-US" i="1" dirty="0" err="1"/>
              <a:t>CyberForce</a:t>
            </a:r>
            <a:r>
              <a:rPr lang="en-US" i="1" dirty="0"/>
              <a:t> Comp</a:t>
            </a:r>
            <a:r>
              <a:rPr lang="en-US" dirty="0"/>
              <a:t>.</a:t>
            </a:r>
          </a:p>
          <a:p>
            <a:pPr>
              <a:spcAft>
                <a:spcPts val="600"/>
              </a:spcAft>
            </a:pPr>
            <a:r>
              <a:rPr lang="en-US" dirty="0"/>
              <a:t>https://tinyurl.com/cybforce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532E76-C124-4255-A57A-EB71156F5099}"/>
              </a:ext>
            </a:extLst>
          </p:cNvPr>
          <p:cNvSpPr txBox="1"/>
          <p:nvPr/>
        </p:nvSpPr>
        <p:spPr>
          <a:xfrm>
            <a:off x="479205" y="4016892"/>
            <a:ext cx="5665254" cy="7232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dirty="0"/>
              <a:t>REN-ISAC </a:t>
            </a:r>
            <a:r>
              <a:rPr lang="en-US" dirty="0" err="1"/>
              <a:t>Pentester</a:t>
            </a: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40E3CE-C959-B816-63DF-94FF2C2EF728}"/>
              </a:ext>
            </a:extLst>
          </p:cNvPr>
          <p:cNvSpPr txBox="1"/>
          <p:nvPr/>
        </p:nvSpPr>
        <p:spPr>
          <a:xfrm>
            <a:off x="660148" y="5243465"/>
            <a:ext cx="531891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CISO workshops; </a:t>
            </a:r>
            <a:r>
              <a:rPr lang="en-US" dirty="0">
                <a:ea typeface="+mn-lt"/>
                <a:cs typeface="+mn-lt"/>
                <a:hlinkClick r:id="rId3"/>
              </a:rPr>
              <a:t>https://ciso.uw.edu/education/outreach/workshops/#badthings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6" name="Picture 9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A3E3EB16-7280-3697-2A20-71E11F207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024" y="3288938"/>
            <a:ext cx="5640473" cy="32354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25A077-1F18-02F9-0FB4-4F3DBFE53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407" y="256732"/>
            <a:ext cx="4718179" cy="283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563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8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85147-01EC-09A3-8641-333D5CEEA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456105" cy="706964"/>
          </a:xfrm>
        </p:spPr>
        <p:txBody>
          <a:bodyPr/>
          <a:lstStyle/>
          <a:p>
            <a:r>
              <a:rPr lang="en-US" dirty="0"/>
              <a:t>AD </a:t>
            </a:r>
            <a:r>
              <a:rPr lang="en-US" dirty="0" err="1"/>
              <a:t>Misconfig</a:t>
            </a:r>
            <a:r>
              <a:rPr lang="en-US" dirty="0"/>
              <a:t> using regular domain user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B49AB6-9BD7-8286-0E4C-757FD9B6B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660" y="611637"/>
            <a:ext cx="6401693" cy="63350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7DF141-BD87-2E45-759C-8482418F6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716" y="350381"/>
            <a:ext cx="5563376" cy="643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7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D6259-6D0D-D0F9-AF5B-2CE3F46FA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misconfig</a:t>
            </a:r>
            <a:r>
              <a:rPr lang="en-US" dirty="0"/>
              <a:t> at Home?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D3513A-C50C-813C-14D5-2FB3B918CF6B}"/>
              </a:ext>
            </a:extLst>
          </p:cNvPr>
          <p:cNvSpPr txBox="1"/>
          <p:nvPr/>
        </p:nvSpPr>
        <p:spPr>
          <a:xfrm>
            <a:off x="1259481" y="5310132"/>
            <a:ext cx="5235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OneDrive Cloud: </a:t>
            </a:r>
            <a:r>
              <a:rPr lang="en-US" dirty="0">
                <a:ea typeface="+mn-lt"/>
                <a:cs typeface="+mn-lt"/>
                <a:hlinkClick r:id="rId3"/>
              </a:rPr>
              <a:t>https://screencast-o-matic.com/watch/c3Qv34VtipM</a:t>
            </a:r>
            <a:r>
              <a:rPr lang="en-US" dirty="0">
                <a:ea typeface="+mn-lt"/>
                <a:cs typeface="+mn-lt"/>
              </a:rPr>
              <a:t>  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650737-568D-51D3-09E2-3348D0F1115F}"/>
              </a:ext>
            </a:extLst>
          </p:cNvPr>
          <p:cNvSpPr txBox="1"/>
          <p:nvPr/>
        </p:nvSpPr>
        <p:spPr>
          <a:xfrm>
            <a:off x="1259481" y="3748433"/>
            <a:ext cx="52807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Turn on Encryption: </a:t>
            </a:r>
            <a:r>
              <a:rPr lang="en-US" dirty="0">
                <a:hlinkClick r:id="rId4"/>
              </a:rPr>
              <a:t>File Vault</a:t>
            </a:r>
            <a:r>
              <a:rPr lang="en-US" dirty="0"/>
              <a:t> &amp; </a:t>
            </a:r>
            <a:r>
              <a:rPr lang="en-US" dirty="0" err="1">
                <a:hlinkClick r:id="rId5"/>
              </a:rPr>
              <a:t>Bitlocker</a:t>
            </a:r>
            <a:endParaRPr lang="en-US" dirty="0"/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242EFF90-AFA5-C1FA-5BB8-3219065F42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9303" y="3787093"/>
            <a:ext cx="4160683" cy="29299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F6B4C75-635E-BADB-C7A5-1FDC8A117CF9}"/>
              </a:ext>
            </a:extLst>
          </p:cNvPr>
          <p:cNvSpPr txBox="1"/>
          <p:nvPr/>
        </p:nvSpPr>
        <p:spPr>
          <a:xfrm>
            <a:off x="1259481" y="4390783"/>
            <a:ext cx="469814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hlinkClick r:id="rId7"/>
              </a:rPr>
              <a:t>Sophos Home https://home.sophos.com/en-us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D22C1D-C1B0-9FEE-B266-BCCFCEF4AB89}"/>
              </a:ext>
            </a:extLst>
          </p:cNvPr>
          <p:cNvSpPr txBox="1"/>
          <p:nvPr/>
        </p:nvSpPr>
        <p:spPr>
          <a:xfrm>
            <a:off x="1259481" y="2571774"/>
            <a:ext cx="510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Century Gothic"/>
                <a:ea typeface="Arial"/>
                <a:cs typeface="Arial"/>
              </a:rPr>
              <a:t>Windows Update on​​​</a:t>
            </a:r>
            <a:endParaRPr lang="en-US" dirty="0">
              <a:hlinkClick r:id="rId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994338-8787-A0D9-FA7C-DE554C589A86}"/>
              </a:ext>
            </a:extLst>
          </p:cNvPr>
          <p:cNvSpPr txBox="1"/>
          <p:nvPr/>
        </p:nvSpPr>
        <p:spPr>
          <a:xfrm>
            <a:off x="1259481" y="3144743"/>
            <a:ext cx="5235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Router/</a:t>
            </a:r>
            <a:r>
              <a:rPr lang="en-US" dirty="0" err="1">
                <a:ea typeface="+mn-lt"/>
                <a:cs typeface="+mn-lt"/>
              </a:rPr>
              <a:t>WiFi</a:t>
            </a:r>
            <a:r>
              <a:rPr lang="en-US" dirty="0">
                <a:ea typeface="+mn-lt"/>
                <a:cs typeface="+mn-lt"/>
              </a:rPr>
              <a:t> default pass, Firmware update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325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2E980-F9AE-B540-B921-0AC9D6009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School Active Directory hit by Ransomware! </a:t>
            </a:r>
            <a:r>
              <a:rPr lang="en-US" dirty="0">
                <a:solidFill>
                  <a:srgbClr val="00B0F0"/>
                </a:solidFill>
              </a:rPr>
              <a:t>School had Insurance</a:t>
            </a:r>
            <a:r>
              <a:rPr lang="en-US" dirty="0"/>
              <a:t>!!!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199719-7974-463F-99FA-F0FD0BE3ED10}"/>
              </a:ext>
            </a:extLst>
          </p:cNvPr>
          <p:cNvSpPr txBox="1"/>
          <p:nvPr/>
        </p:nvSpPr>
        <p:spPr>
          <a:xfrm>
            <a:off x="949025" y="3094964"/>
            <a:ext cx="7425520" cy="12926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dirty="0"/>
          </a:p>
          <a:p>
            <a:r>
              <a:rPr lang="en-US" sz="2400" b="1" dirty="0"/>
              <a:t>Northshore School district</a:t>
            </a:r>
            <a:r>
              <a:rPr lang="en-US" b="1" dirty="0"/>
              <a:t> </a:t>
            </a:r>
            <a:r>
              <a:rPr lang="en-US" dirty="0"/>
              <a:t>System admins share their experience:</a:t>
            </a:r>
          </a:p>
          <a:p>
            <a:r>
              <a:rPr lang="en-US" dirty="0">
                <a:ea typeface="+mn-lt"/>
                <a:cs typeface="+mn-lt"/>
                <a:hlinkClick r:id="rId3"/>
              </a:rPr>
              <a:t>https://www.youtube.com/watch?v=HwfRxjV2wok</a:t>
            </a:r>
            <a:r>
              <a:rPr lang="en-US" dirty="0">
                <a:ea typeface="+mn-lt"/>
                <a:cs typeface="+mn-lt"/>
              </a:rPr>
              <a:t> </a:t>
            </a:r>
          </a:p>
        </p:txBody>
      </p:sp>
      <p:pic>
        <p:nvPicPr>
          <p:cNvPr id="11" name="Picture 2" descr="wanna cry">
            <a:extLst>
              <a:ext uri="{FF2B5EF4-FFF2-40B4-BE49-F238E27FC236}">
                <a16:creationId xmlns:a16="http://schemas.microsoft.com/office/drawing/2014/main" id="{7D6EABB7-05E8-4C1A-AD0B-D3FDB9B3A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841" y="3373513"/>
            <a:ext cx="2283769" cy="1728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Diagram&#10;&#10;Description automatically generated">
            <a:extLst>
              <a:ext uri="{FF2B5EF4-FFF2-40B4-BE49-F238E27FC236}">
                <a16:creationId xmlns:a16="http://schemas.microsoft.com/office/drawing/2014/main" id="{8D5CFE81-6000-4592-B647-A127E0296C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0064" y="3134032"/>
            <a:ext cx="5161936" cy="37236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7AEAB35-49BC-488E-BA5C-8CD08DFDAA7D}"/>
              </a:ext>
            </a:extLst>
          </p:cNvPr>
          <p:cNvSpPr txBox="1"/>
          <p:nvPr/>
        </p:nvSpPr>
        <p:spPr>
          <a:xfrm>
            <a:off x="1015302" y="2411006"/>
            <a:ext cx="742405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what about </a:t>
            </a:r>
            <a:r>
              <a:rPr lang="en-US" sz="2800" b="1" dirty="0">
                <a:ea typeface="+mn-lt"/>
                <a:cs typeface="+mn-lt"/>
              </a:rPr>
              <a:t>all the steps while they are in?</a:t>
            </a:r>
            <a:r>
              <a:rPr lang="en-US" b="1" dirty="0">
                <a:ea typeface="+mn-lt"/>
                <a:cs typeface="+mn-lt"/>
              </a:rPr>
              <a:t> 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FB5ECD-06AC-9F66-1C86-C8A14676CA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950" y="1941796"/>
            <a:ext cx="8468907" cy="4591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3324A1-6982-9EC9-EA30-723DBBFD53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025" y="1941796"/>
            <a:ext cx="8032391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91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107D4-F4B7-444D-A86D-B7101B81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 Assessment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4FBCF1-3A55-E933-DE52-3184065119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0042" y="2190905"/>
            <a:ext cx="3730959" cy="34163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1846CF-CAF4-C03F-D30E-62D58920B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3631" y="2377968"/>
            <a:ext cx="3263525" cy="30421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DEB762-F25D-730E-0C13-7C3AF5BDA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9786" y="2356007"/>
            <a:ext cx="4293162" cy="30421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0FDB18-58B6-BC38-5ADD-AF04B36C8CB4}"/>
              </a:ext>
            </a:extLst>
          </p:cNvPr>
          <p:cNvSpPr txBox="1"/>
          <p:nvPr/>
        </p:nvSpPr>
        <p:spPr>
          <a:xfrm>
            <a:off x="8146729" y="6147958"/>
            <a:ext cx="3916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https://tinyurl.com/ADefence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CA3D9-A42E-B1E8-2269-1329C3FD6927}"/>
              </a:ext>
            </a:extLst>
          </p:cNvPr>
          <p:cNvSpPr txBox="1"/>
          <p:nvPr/>
        </p:nvSpPr>
        <p:spPr>
          <a:xfrm>
            <a:off x="864157" y="6147958"/>
            <a:ext cx="4180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6"/>
              </a:rPr>
              <a:t>https://tinyurl.com/WSBloodHound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47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107D4-F4B7-444D-A86D-B7101B81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 Assessment Part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0FDB18-58B6-BC38-5ADD-AF04B36C8CB4}"/>
              </a:ext>
            </a:extLst>
          </p:cNvPr>
          <p:cNvSpPr txBox="1"/>
          <p:nvPr/>
        </p:nvSpPr>
        <p:spPr>
          <a:xfrm>
            <a:off x="5776332" y="6137910"/>
            <a:ext cx="626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https://tinyurl.com/WSBloodHound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F06DDC-E835-E347-4D89-6AD1B5EA3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196" y="1680632"/>
            <a:ext cx="4769884" cy="44240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EF63DD-B8C2-38E4-CD0E-857501A5F9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1544176"/>
            <a:ext cx="6537724" cy="45013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4C6646-511C-790C-11D8-3677B679FB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808" y="1671956"/>
            <a:ext cx="6631618" cy="450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98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11CAC6F2-0806-417B-BF5D-5AEF6195F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723B02-0AAB-4F6E-BA41-8ED99D559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3E9228-A258-C063-ACC3-FBF630C52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4266" y="1124435"/>
            <a:ext cx="4098804" cy="33615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Go over an attack</a:t>
            </a: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6791ED97-849F-AA8E-2CC5-F70B492BB9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216336" y="1104799"/>
            <a:ext cx="6011373" cy="46287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029185-441A-0632-0464-B149931930F9}"/>
              </a:ext>
            </a:extLst>
          </p:cNvPr>
          <p:cNvSpPr txBox="1"/>
          <p:nvPr/>
        </p:nvSpPr>
        <p:spPr>
          <a:xfrm>
            <a:off x="7660453" y="5194948"/>
            <a:ext cx="409880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00" u="sng" dirty="0">
              <a:hlinkClick r:id="rId5"/>
            </a:endParaRPr>
          </a:p>
          <a:p>
            <a:r>
              <a:rPr lang="en-US" sz="2400" u="sng" dirty="0">
                <a:cs typeface="Calibri"/>
                <a:hlinkClick r:id="rId6"/>
              </a:rPr>
              <a:t>https://thedfirreport.com/</a:t>
            </a:r>
            <a:endParaRPr lang="en-US" sz="2400" u="sng" dirty="0">
              <a:cs typeface="Calibri"/>
            </a:endParaRPr>
          </a:p>
          <a:p>
            <a:pPr algn="l"/>
            <a:endParaRPr lang="en-US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6CE7E1-FB0A-D2C6-72C2-8BBB6EA8F5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388" y="1078508"/>
            <a:ext cx="6351519" cy="46550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DC8B2D1-708E-4271-4B18-F17889C1DE63}"/>
              </a:ext>
            </a:extLst>
          </p:cNvPr>
          <p:cNvSpPr txBox="1"/>
          <p:nvPr/>
        </p:nvSpPr>
        <p:spPr>
          <a:xfrm>
            <a:off x="1068388" y="5779492"/>
            <a:ext cx="6750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https://tinyurl.com/BruteRatel</a:t>
            </a:r>
          </a:p>
        </p:txBody>
      </p:sp>
    </p:spTree>
    <p:extLst>
      <p:ext uri="{BB962C8B-B14F-4D97-AF65-F5344CB8AC3E}">
        <p14:creationId xmlns:p14="http://schemas.microsoft.com/office/powerpoint/2010/main" val="1547949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11CAC6F2-0806-417B-BF5D-5AEF6195F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723B02-0AAB-4F6E-BA41-8ED99D559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029185-441A-0632-0464-B149931930F9}"/>
              </a:ext>
            </a:extLst>
          </p:cNvPr>
          <p:cNvSpPr txBox="1"/>
          <p:nvPr/>
        </p:nvSpPr>
        <p:spPr>
          <a:xfrm>
            <a:off x="600265" y="5481135"/>
            <a:ext cx="1130395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hlinkClick r:id="rId4"/>
              </a:rPr>
              <a:t>https://tinyurl.com/wazuhWS</a:t>
            </a:r>
            <a:endParaRPr lang="en-US" sz="240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7248483-1BBA-D3F7-BB35-6CCC9B2FA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74271" y="814659"/>
            <a:ext cx="8212975" cy="4659971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E59501-E698-3030-5AEB-543D5B480EBF}"/>
              </a:ext>
            </a:extLst>
          </p:cNvPr>
          <p:cNvSpPr txBox="1"/>
          <p:nvPr/>
        </p:nvSpPr>
        <p:spPr>
          <a:xfrm>
            <a:off x="9244361" y="1984917"/>
            <a:ext cx="2419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its not logged it didn’t happen!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3B7237-92D0-D480-5208-2ADC21347892}"/>
              </a:ext>
            </a:extLst>
          </p:cNvPr>
          <p:cNvSpPr txBox="1"/>
          <p:nvPr/>
        </p:nvSpPr>
        <p:spPr>
          <a:xfrm>
            <a:off x="9244361" y="3512634"/>
            <a:ext cx="20852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the right data aka such as Sysmon</a:t>
            </a:r>
          </a:p>
        </p:txBody>
      </p:sp>
    </p:spTree>
    <p:extLst>
      <p:ext uri="{BB962C8B-B14F-4D97-AF65-F5344CB8AC3E}">
        <p14:creationId xmlns:p14="http://schemas.microsoft.com/office/powerpoint/2010/main" val="6859529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Diagram&#10;&#10;Description automatically generated">
            <a:extLst>
              <a:ext uri="{FF2B5EF4-FFF2-40B4-BE49-F238E27FC236}">
                <a16:creationId xmlns:a16="http://schemas.microsoft.com/office/drawing/2014/main" id="{C9BEB64F-29B6-1491-9692-B40E1DBB2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" y="3627885"/>
            <a:ext cx="8737750" cy="5419535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7F3D6F2-F008-1941-3C85-5F08874A9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" y="2237863"/>
            <a:ext cx="11874500" cy="18830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0B70B3-8509-9AAD-E6E8-1CD7F171B322}"/>
              </a:ext>
            </a:extLst>
          </p:cNvPr>
          <p:cNvSpPr txBox="1"/>
          <p:nvPr/>
        </p:nvSpPr>
        <p:spPr>
          <a:xfrm>
            <a:off x="1182030" y="791737"/>
            <a:ext cx="9188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TIP: Simulate Ransomware in Active Directory.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03E97D-333E-CB15-082A-BF7F63EA11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71" y="2593553"/>
            <a:ext cx="10440857" cy="28578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EA2F8AD-8C44-42F2-5385-A417C0C33AD4}"/>
              </a:ext>
            </a:extLst>
          </p:cNvPr>
          <p:cNvSpPr txBox="1"/>
          <p:nvPr/>
        </p:nvSpPr>
        <p:spPr>
          <a:xfrm>
            <a:off x="4025590" y="1386504"/>
            <a:ext cx="3702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linkClick r:id="rId6"/>
              </a:rPr>
              <a:t>https://tinyurl.com/RansomWS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75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05B15-D6C6-0B86-D9B9-146DA578C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9" y="556897"/>
            <a:ext cx="10022286" cy="706964"/>
          </a:xfrm>
        </p:spPr>
        <p:txBody>
          <a:bodyPr/>
          <a:lstStyle/>
          <a:p>
            <a:r>
              <a:rPr lang="en-US" dirty="0"/>
              <a:t>TIP: Early warning detection system (LLMNR and Twitter?)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3F6804-2677-623D-80DC-9FEE935E8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42188" y="2213322"/>
            <a:ext cx="8521125" cy="476862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62F571-869C-BCD2-D4A4-88E056782D0E}"/>
              </a:ext>
            </a:extLst>
          </p:cNvPr>
          <p:cNvSpPr txBox="1"/>
          <p:nvPr/>
        </p:nvSpPr>
        <p:spPr>
          <a:xfrm>
            <a:off x="213360" y="6298083"/>
            <a:ext cx="1166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https://tinyurl.com/EarlyDetections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AB37B0-ACCF-E2F2-2673-7D5F6182F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028" y="2897183"/>
            <a:ext cx="8240275" cy="34009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C0AB9D9-C869-FF2B-01CD-B14CE9EF6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99802" y="1777839"/>
            <a:ext cx="8164064" cy="223868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389B8A0-1104-5D0C-D9BE-CF2012F0779B}"/>
              </a:ext>
            </a:extLst>
          </p:cNvPr>
          <p:cNvSpPr txBox="1"/>
          <p:nvPr/>
        </p:nvSpPr>
        <p:spPr>
          <a:xfrm>
            <a:off x="2393760" y="1877745"/>
            <a:ext cx="399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linkClick r:id="rId6"/>
              </a:rPr>
              <a:t>https://twitter.com/jessefmoore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24475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EA6A6-ED48-415C-BC70-3E60371B8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Steps to move thru your machine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E54E9D-E454-4873-9AA9-735E45DF5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43" y="2476500"/>
            <a:ext cx="2409825" cy="952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6C5D71C-F48B-463B-80AA-EE90C8331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97564"/>
            <a:ext cx="2886075" cy="8096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6594CBC-3194-4D49-865C-95F7271220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4775" y="4118628"/>
            <a:ext cx="2990850" cy="8096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052B0B1-B0FC-47F3-B0D9-3431AFEB61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5725" y="4939692"/>
            <a:ext cx="2952750" cy="7334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8B9F50F-678D-4912-8AAB-F96D058939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8718" y="2538412"/>
            <a:ext cx="2114550" cy="8286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61F2BD6-92C9-4EDE-9F9D-BC3127163E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8718" y="3416971"/>
            <a:ext cx="2085975" cy="6858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2E79D0B-E5FE-4E44-A053-3A149FB5B9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5843" y="4090987"/>
            <a:ext cx="2257425" cy="7143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50AA4DF-03A9-4D66-A18A-5572F35603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5660" y="2541408"/>
            <a:ext cx="2105025" cy="8096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9E4E3EA-EDFD-4C83-AA9B-22C76836EA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35660" y="3388051"/>
            <a:ext cx="1943100" cy="685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B5B823F-408B-40C0-960A-003480E1A53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96143" y="4073851"/>
            <a:ext cx="1866900" cy="67627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36989E3-0BD1-4AF7-BD02-2E8CA30F342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53268" y="4671667"/>
            <a:ext cx="2181225" cy="75247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F630097-FEBA-4A4F-930D-066838C9666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80202" y="2547937"/>
            <a:ext cx="2057400" cy="85725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44B8621-AFD3-4ED4-A74A-BFA604BD90B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87079" y="3452814"/>
            <a:ext cx="2028825" cy="70485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8CC379B-21F7-4A38-BCB1-73FBCA8EF56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16367" y="2551327"/>
            <a:ext cx="2047875" cy="7905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328DB2B-2DA5-4233-A4D6-2DCE4D0736E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54454" y="3405187"/>
            <a:ext cx="2171700" cy="70485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C129D0C-F673-4F11-98DC-B3F79FD10CA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75452" y="4344085"/>
            <a:ext cx="1962150" cy="60007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4DACBBB-282C-4A6C-AB12-9EAEC4B9BF2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78561" y="4261798"/>
            <a:ext cx="2000250" cy="657225"/>
          </a:xfrm>
          <a:prstGeom prst="rect">
            <a:avLst/>
          </a:prstGeom>
        </p:spPr>
      </p:pic>
      <p:pic>
        <p:nvPicPr>
          <p:cNvPr id="2050" name="Picture 2" descr="wanna cry">
            <a:extLst>
              <a:ext uri="{FF2B5EF4-FFF2-40B4-BE49-F238E27FC236}">
                <a16:creationId xmlns:a16="http://schemas.microsoft.com/office/drawing/2014/main" id="{13B3D0D0-37B8-48C1-8371-04BBBE04C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2384" y="5129742"/>
            <a:ext cx="2283769" cy="1728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044A7D-AAEB-4201-A823-2713A5109C27}"/>
              </a:ext>
            </a:extLst>
          </p:cNvPr>
          <p:cNvSpPr txBox="1"/>
          <p:nvPr/>
        </p:nvSpPr>
        <p:spPr>
          <a:xfrm>
            <a:off x="0" y="5945597"/>
            <a:ext cx="92293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>
                <a:hlinkClick r:id="rId21"/>
              </a:rPr>
              <a:t>https://www.microsoft.com/security/blog/2020/04/28/ransomware-groups-continue-to-target-healthcare-critical-services-heres-how-to-reduce-risk/</a:t>
            </a:r>
            <a:endParaRPr lang="en-US" sz="1000" dirty="0"/>
          </a:p>
          <a:p>
            <a:endParaRPr lang="en-US" sz="1000" dirty="0"/>
          </a:p>
          <a:p>
            <a:r>
              <a:rPr lang="en-US" sz="1600" dirty="0"/>
              <a:t>https://tinyurl.com/StepsInsideNet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29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3033-5BE4-7912-9BA8-5E264077B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Admin Tools ; slow down hacker... to ease your mind...when news hits!</a:t>
            </a:r>
          </a:p>
          <a:p>
            <a:endParaRPr lang="en-US" dirty="0"/>
          </a:p>
        </p:txBody>
      </p:sp>
      <p:sp>
        <p:nvSpPr>
          <p:cNvPr id="8" name="Google Shape;83;p2">
            <a:extLst>
              <a:ext uri="{FF2B5EF4-FFF2-40B4-BE49-F238E27FC236}">
                <a16:creationId xmlns:a16="http://schemas.microsoft.com/office/drawing/2014/main" id="{AF3C6CC3-52B8-9D45-6542-17262A4D3536}"/>
              </a:ext>
            </a:extLst>
          </p:cNvPr>
          <p:cNvSpPr/>
          <p:nvPr/>
        </p:nvSpPr>
        <p:spPr>
          <a:xfrm>
            <a:off x="104797" y="2038191"/>
            <a:ext cx="4830000" cy="4761900"/>
          </a:xfrm>
          <a:prstGeom prst="bracketPair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95;p2">
            <a:extLst>
              <a:ext uri="{FF2B5EF4-FFF2-40B4-BE49-F238E27FC236}">
                <a16:creationId xmlns:a16="http://schemas.microsoft.com/office/drawing/2014/main" id="{E17E0EF0-81C1-1D74-7B33-42A711C86D07}"/>
              </a:ext>
            </a:extLst>
          </p:cNvPr>
          <p:cNvSpPr txBox="1"/>
          <p:nvPr/>
        </p:nvSpPr>
        <p:spPr>
          <a:xfrm>
            <a:off x="-146984" y="2414257"/>
            <a:ext cx="110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Google Shape;135;p2">
            <a:extLst>
              <a:ext uri="{FF2B5EF4-FFF2-40B4-BE49-F238E27FC236}">
                <a16:creationId xmlns:a16="http://schemas.microsoft.com/office/drawing/2014/main" id="{1D0F7C3C-966F-1026-22C9-A084E416874B}"/>
              </a:ext>
            </a:extLst>
          </p:cNvPr>
          <p:cNvSpPr txBox="1"/>
          <p:nvPr/>
        </p:nvSpPr>
        <p:spPr>
          <a:xfrm>
            <a:off x="1135790" y="2195538"/>
            <a:ext cx="139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b="1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8F9BB6-2429-62EE-5BF6-6A52A08A3501}"/>
              </a:ext>
            </a:extLst>
          </p:cNvPr>
          <p:cNvSpPr txBox="1"/>
          <p:nvPr/>
        </p:nvSpPr>
        <p:spPr>
          <a:xfrm>
            <a:off x="761999" y="2150806"/>
            <a:ext cx="29906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WSUS </a:t>
            </a:r>
            <a:r>
              <a:rPr lang="en-US" b="1" dirty="0">
                <a:cs typeface="Arial"/>
              </a:rPr>
              <a:t>Patch</a:t>
            </a:r>
            <a:r>
              <a:rPr lang="en-US" dirty="0">
                <a:cs typeface="Arial"/>
              </a:rPr>
              <a:t> servers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0C31ED-56E8-5459-05CD-2DAD2DA6808B}"/>
              </a:ext>
            </a:extLst>
          </p:cNvPr>
          <p:cNvSpPr txBox="1"/>
          <p:nvPr/>
        </p:nvSpPr>
        <p:spPr>
          <a:xfrm>
            <a:off x="762000" y="2740741"/>
            <a:ext cx="33265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cs typeface="Arial"/>
              </a:rPr>
              <a:t>WuFB</a:t>
            </a:r>
            <a:r>
              <a:rPr lang="en-US" dirty="0">
                <a:cs typeface="Arial"/>
              </a:rPr>
              <a:t> </a:t>
            </a:r>
            <a:r>
              <a:rPr lang="en-US" b="1" dirty="0">
                <a:cs typeface="Arial"/>
              </a:rPr>
              <a:t>Patch</a:t>
            </a:r>
            <a:r>
              <a:rPr lang="en-US" dirty="0">
                <a:cs typeface="Arial"/>
              </a:rPr>
              <a:t> </a:t>
            </a:r>
            <a:r>
              <a:rPr lang="en-US" dirty="0" err="1">
                <a:cs typeface="Arial"/>
              </a:rPr>
              <a:t>oS</a:t>
            </a:r>
            <a:r>
              <a:rPr lang="en-US" dirty="0">
                <a:cs typeface="Arial"/>
              </a:rPr>
              <a:t>/Drivers WS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73C581-EF20-BC1B-500C-14E21E82E069}"/>
              </a:ext>
            </a:extLst>
          </p:cNvPr>
          <p:cNvSpPr txBox="1"/>
          <p:nvPr/>
        </p:nvSpPr>
        <p:spPr>
          <a:xfrm>
            <a:off x="761999" y="3289707"/>
            <a:ext cx="33265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cs typeface="Arial"/>
              </a:rPr>
              <a:t>Patch</a:t>
            </a:r>
            <a:r>
              <a:rPr lang="en-US" dirty="0" err="1">
                <a:cs typeface="Arial"/>
              </a:rPr>
              <a:t>MyPC</a:t>
            </a:r>
            <a:r>
              <a:rPr lang="en-US" dirty="0">
                <a:cs typeface="Arial"/>
              </a:rPr>
              <a:t> 3rd party Apps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E62B90-F669-0EF0-EFCE-F5D9F67DA2EA}"/>
              </a:ext>
            </a:extLst>
          </p:cNvPr>
          <p:cNvSpPr txBox="1"/>
          <p:nvPr/>
        </p:nvSpPr>
        <p:spPr>
          <a:xfrm>
            <a:off x="680064" y="3838676"/>
            <a:ext cx="34904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SCCM/MECM Software update/Patch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E6D7B9-F486-8606-6E5B-3AFE071362F3}"/>
              </a:ext>
            </a:extLst>
          </p:cNvPr>
          <p:cNvSpPr txBox="1"/>
          <p:nvPr/>
        </p:nvSpPr>
        <p:spPr>
          <a:xfrm>
            <a:off x="589935" y="4486482"/>
            <a:ext cx="37367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Vendor best practice 2Secure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C2F194-C1A5-2DD8-EE3F-12DB790B0CE6}"/>
              </a:ext>
            </a:extLst>
          </p:cNvPr>
          <p:cNvSpPr txBox="1"/>
          <p:nvPr/>
        </p:nvSpPr>
        <p:spPr>
          <a:xfrm>
            <a:off x="680062" y="4976737"/>
            <a:ext cx="40394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Arial"/>
              </a:rPr>
              <a:t>2FA </a:t>
            </a:r>
            <a:r>
              <a:rPr lang="en-US" dirty="0">
                <a:cs typeface="Arial"/>
              </a:rPr>
              <a:t>Apps/</a:t>
            </a:r>
            <a:r>
              <a:rPr lang="en-US" b="1" dirty="0">
                <a:cs typeface="Arial"/>
              </a:rPr>
              <a:t>email SPAM </a:t>
            </a:r>
            <a:r>
              <a:rPr lang="en-US" dirty="0">
                <a:cs typeface="Arial"/>
              </a:rPr>
              <a:t>appliance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6B78B3-1C32-C43E-19B1-9EE6F438E982}"/>
              </a:ext>
            </a:extLst>
          </p:cNvPr>
          <p:cNvSpPr txBox="1"/>
          <p:nvPr/>
        </p:nvSpPr>
        <p:spPr>
          <a:xfrm>
            <a:off x="589935" y="5359273"/>
            <a:ext cx="41295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Arial"/>
              </a:rPr>
              <a:t>Firewall</a:t>
            </a:r>
            <a:r>
              <a:rPr lang="en-US" dirty="0">
                <a:cs typeface="Arial"/>
              </a:rPr>
              <a:t>, VPN on Host &amp; Network for Public/Private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35B0A1-80F8-5457-AECA-37FBB902F358}"/>
              </a:ext>
            </a:extLst>
          </p:cNvPr>
          <p:cNvSpPr txBox="1"/>
          <p:nvPr/>
        </p:nvSpPr>
        <p:spPr>
          <a:xfrm>
            <a:off x="589935" y="6074039"/>
            <a:ext cx="43999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LAPS &amp;&amp; </a:t>
            </a:r>
            <a:r>
              <a:rPr lang="en-US" b="1" dirty="0">
                <a:cs typeface="Arial"/>
              </a:rPr>
              <a:t>Separate admin w/Regular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686F29-0DB8-A7DB-9FF8-7A2D69673977}"/>
              </a:ext>
            </a:extLst>
          </p:cNvPr>
          <p:cNvSpPr txBox="1"/>
          <p:nvPr/>
        </p:nvSpPr>
        <p:spPr>
          <a:xfrm>
            <a:off x="680063" y="6485191"/>
            <a:ext cx="37362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Label High Risk data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E6D48A-B84E-A7E8-94AE-DCD35F3FA5C6}"/>
              </a:ext>
            </a:extLst>
          </p:cNvPr>
          <p:cNvSpPr txBox="1"/>
          <p:nvPr/>
        </p:nvSpPr>
        <p:spPr>
          <a:xfrm>
            <a:off x="5274509" y="4742545"/>
            <a:ext cx="644272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entury Gothic"/>
                <a:cs typeface="Segoe UI"/>
              </a:rPr>
              <a:t>End Of Life software</a:t>
            </a:r>
          </a:p>
          <a:p>
            <a:endParaRPr lang="en-US">
              <a:solidFill>
                <a:srgbClr val="202729"/>
              </a:solidFill>
              <a:latin typeface="Arial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E8B16-A441-A23E-8E28-C3636E37F77F}"/>
              </a:ext>
            </a:extLst>
          </p:cNvPr>
          <p:cNvSpPr txBox="1"/>
          <p:nvPr/>
        </p:nvSpPr>
        <p:spPr>
          <a:xfrm>
            <a:off x="5213286" y="2717562"/>
            <a:ext cx="567030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DR/BC (</a:t>
            </a:r>
            <a:r>
              <a:rPr lang="en-US" b="1" dirty="0">
                <a:ea typeface="+mn-lt"/>
                <a:cs typeface="+mn-lt"/>
              </a:rPr>
              <a:t>BACKUPS)</a:t>
            </a:r>
            <a:r>
              <a:rPr lang="en-US" dirty="0">
                <a:ea typeface="+mn-lt"/>
                <a:cs typeface="+mn-lt"/>
              </a:rPr>
              <a:t>to Recover from incident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D8FA58-6D7A-2C58-B7F7-E2B9D3A9AD85}"/>
              </a:ext>
            </a:extLst>
          </p:cNvPr>
          <p:cNvSpPr txBox="1"/>
          <p:nvPr/>
        </p:nvSpPr>
        <p:spPr>
          <a:xfrm>
            <a:off x="5252983" y="3169226"/>
            <a:ext cx="43930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ea typeface="+mn-lt"/>
                <a:cs typeface="+mn-lt"/>
              </a:rPr>
              <a:t>Bitlocker</a:t>
            </a:r>
            <a:r>
              <a:rPr lang="en-US">
                <a:ea typeface="+mn-lt"/>
                <a:cs typeface="+mn-lt"/>
              </a:rPr>
              <a:t>, </a:t>
            </a:r>
            <a:r>
              <a:rPr lang="en-US" err="1">
                <a:ea typeface="+mn-lt"/>
                <a:cs typeface="+mn-lt"/>
              </a:rPr>
              <a:t>Filevault</a:t>
            </a:r>
            <a:r>
              <a:rPr lang="en-US">
                <a:ea typeface="+mn-lt"/>
                <a:cs typeface="+mn-lt"/>
              </a:rPr>
              <a:t> prevent lost data</a:t>
            </a:r>
            <a:endParaRPr lang="en-US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E2CBE-F182-3FE9-5D92-12D56A4E185E}"/>
              </a:ext>
            </a:extLst>
          </p:cNvPr>
          <p:cNvSpPr txBox="1"/>
          <p:nvPr/>
        </p:nvSpPr>
        <p:spPr>
          <a:xfrm>
            <a:off x="5253181" y="3607954"/>
            <a:ext cx="40120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202729"/>
                </a:solidFill>
                <a:latin typeface="Arial"/>
              </a:rPr>
              <a:t>EDR, Anti Virus​</a:t>
            </a:r>
            <a:r>
              <a:rPr lang="en-US">
                <a:latin typeface="Arial"/>
                <a:ea typeface="Arial"/>
                <a:cs typeface="Arial"/>
              </a:rPr>
              <a:t>​ (turn off AV?)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E87115-BDE4-19AC-AEA9-71645E186842}"/>
              </a:ext>
            </a:extLst>
          </p:cNvPr>
          <p:cNvSpPr txBox="1"/>
          <p:nvPr/>
        </p:nvSpPr>
        <p:spPr>
          <a:xfrm>
            <a:off x="5275739" y="4046682"/>
            <a:ext cx="51434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202729"/>
                </a:solidFill>
                <a:latin typeface="Arial"/>
              </a:rPr>
              <a:t>Logging (</a:t>
            </a:r>
            <a:r>
              <a:rPr lang="en-US" err="1">
                <a:solidFill>
                  <a:srgbClr val="202729"/>
                </a:solidFill>
                <a:latin typeface="Arial"/>
              </a:rPr>
              <a:t>Wazuh</a:t>
            </a:r>
            <a:r>
              <a:rPr lang="en-US">
                <a:solidFill>
                  <a:srgbClr val="202729"/>
                </a:solidFill>
                <a:latin typeface="Arial"/>
              </a:rPr>
              <a:t>, Elastic, </a:t>
            </a:r>
            <a:r>
              <a:rPr lang="en-US" err="1">
                <a:solidFill>
                  <a:srgbClr val="202729"/>
                </a:solidFill>
                <a:latin typeface="Arial"/>
              </a:rPr>
              <a:t>splunk</a:t>
            </a:r>
            <a:r>
              <a:rPr lang="en-US">
                <a:solidFill>
                  <a:srgbClr val="202729"/>
                </a:solidFill>
                <a:latin typeface="Arial"/>
              </a:rPr>
              <a:t>, Sentinel, Azure Log Analyzer) find malicious/audit</a:t>
            </a:r>
            <a:endParaRPr lang="en-US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D6EB6-C288-EA97-302A-0D2DD5773C06}"/>
              </a:ext>
            </a:extLst>
          </p:cNvPr>
          <p:cNvSpPr txBox="1"/>
          <p:nvPr/>
        </p:nvSpPr>
        <p:spPr>
          <a:xfrm>
            <a:off x="5252983" y="5148477"/>
            <a:ext cx="54436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Pentest high impact (finable, </a:t>
            </a:r>
            <a:r>
              <a:rPr lang="en-US" dirty="0" err="1"/>
              <a:t>etc</a:t>
            </a:r>
            <a:r>
              <a:rPr lang="en-US" dirty="0"/>
              <a:t>) systems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02554B-4432-E3E1-5789-58F56E15099D}"/>
              </a:ext>
            </a:extLst>
          </p:cNvPr>
          <p:cNvSpPr txBox="1"/>
          <p:nvPr/>
        </p:nvSpPr>
        <p:spPr>
          <a:xfrm>
            <a:off x="5275937" y="2229063"/>
            <a:ext cx="4572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202729"/>
                </a:solidFill>
                <a:latin typeface="Arial"/>
                <a:cs typeface="Arial"/>
              </a:rPr>
              <a:t>Password Managers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3BB4CA-9DA7-29B7-0BB3-4EAC344B9176}"/>
              </a:ext>
            </a:extLst>
          </p:cNvPr>
          <p:cNvSpPr txBox="1"/>
          <p:nvPr/>
        </p:nvSpPr>
        <p:spPr>
          <a:xfrm>
            <a:off x="5274509" y="5771968"/>
            <a:ext cx="544368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3"/>
              </a:rPr>
              <a:t>https://www.cisa.gov/stopransomware/ransomware-guide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88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  <p:bldP spid="20" grpId="0"/>
      <p:bldP spid="22" grpId="0"/>
      <p:bldP spid="24" grpId="0"/>
      <p:bldP spid="28" grpId="0"/>
      <p:bldP spid="30" grpId="0"/>
      <p:bldP spid="32" grpId="0"/>
      <p:bldP spid="33" grpId="0"/>
      <p:bldP spid="3" grpId="0"/>
      <p:bldP spid="4" grpId="0"/>
      <p:bldP spid="5" grpId="0"/>
      <p:bldP spid="6" grpId="0"/>
      <p:bldP spid="7" grpId="0"/>
      <p:bldP spid="9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2C4A0-4747-A74F-BC10-B50D0DA9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TableTop</a:t>
            </a:r>
            <a:r>
              <a:rPr lang="en-US" dirty="0"/>
              <a:t> scenario to plan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6BEAB-1DD7-BA4F-9340-C54CF9F4C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053703"/>
            <a:ext cx="9854359" cy="13069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r>
              <a:rPr lang="en-US"/>
              <a:t>Scenario Developed: </a:t>
            </a:r>
          </a:p>
          <a:p>
            <a:pPr lvl="1"/>
            <a:r>
              <a:rPr lang="en-US"/>
              <a:t>Add Computers to Domain, Turn off Defender, &amp;&amp; run exploits (ransomware)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0F73C3-1062-0DA7-AE18-B0C9EE563BBC}"/>
              </a:ext>
            </a:extLst>
          </p:cNvPr>
          <p:cNvSpPr txBox="1"/>
          <p:nvPr/>
        </p:nvSpPr>
        <p:spPr>
          <a:xfrm>
            <a:off x="1066630" y="3691430"/>
            <a:ext cx="503309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OR Table-Top: </a:t>
            </a:r>
            <a:r>
              <a:rPr lang="en-US">
                <a:ea typeface="+mn-lt"/>
                <a:cs typeface="+mn-lt"/>
              </a:rPr>
              <a:t>https://bnb.silverday.de/</a:t>
            </a:r>
          </a:p>
          <a:p>
            <a:endParaRPr lang="en-US"/>
          </a:p>
        </p:txBody>
      </p:sp>
      <p:pic>
        <p:nvPicPr>
          <p:cNvPr id="5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353FD56C-4B87-A488-34EC-8B1955DAA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491" y="4067093"/>
            <a:ext cx="9029700" cy="365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81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3033-5BE4-7912-9BA8-5E264077B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384" y="851005"/>
            <a:ext cx="8761413" cy="706964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Security Projects to help you sleep better…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BAAC25-BC92-CF16-6BF4-B5BC0610C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84" y="1557969"/>
            <a:ext cx="1050753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747944-5A35-8D64-46FE-2A0015C1717C}"/>
              </a:ext>
            </a:extLst>
          </p:cNvPr>
          <p:cNvSpPr txBox="1"/>
          <p:nvPr/>
        </p:nvSpPr>
        <p:spPr>
          <a:xfrm>
            <a:off x="5185637" y="1557969"/>
            <a:ext cx="3024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https://tinyurl.com/xlsProj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325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3F3C-C050-3CE2-9354-7C5A961DD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499" y="713895"/>
            <a:ext cx="10016981" cy="1065464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What you can’t </a:t>
            </a:r>
            <a:r>
              <a:rPr lang="en-US" dirty="0">
                <a:solidFill>
                  <a:srgbClr val="00B0F0"/>
                </a:solidFill>
                <a:ea typeface="+mj-lt"/>
                <a:cs typeface="+mj-lt"/>
              </a:rPr>
              <a:t>See or Know; = </a:t>
            </a:r>
            <a:r>
              <a:rPr lang="en-US" dirty="0">
                <a:solidFill>
                  <a:schemeClr val="bg1"/>
                </a:solidFill>
                <a:ea typeface="+mj-lt"/>
                <a:cs typeface="+mj-lt"/>
              </a:rPr>
              <a:t>What</a:t>
            </a:r>
            <a:r>
              <a:rPr lang="en-US" dirty="0">
                <a:solidFill>
                  <a:srgbClr val="00B0F0"/>
                </a:solidFill>
                <a:ea typeface="+mj-lt"/>
                <a:cs typeface="+mj-lt"/>
              </a:rPr>
              <a:t> </a:t>
            </a:r>
            <a:r>
              <a:rPr lang="en-US" dirty="0">
                <a:ea typeface="+mj-lt"/>
                <a:cs typeface="+mj-lt"/>
              </a:rPr>
              <a:t>You can’t </a:t>
            </a:r>
            <a:r>
              <a:rPr lang="en-US" dirty="0">
                <a:solidFill>
                  <a:srgbClr val="FF0000"/>
                </a:solidFill>
                <a:ea typeface="+mj-lt"/>
                <a:cs typeface="+mj-lt"/>
              </a:rPr>
              <a:t>Detect/Prevent</a:t>
            </a:r>
            <a:r>
              <a:rPr lang="en-US" dirty="0">
                <a:ea typeface="+mj-lt"/>
                <a:cs typeface="+mj-lt"/>
              </a:rPr>
              <a:t>!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D8DAB6D-2508-F68B-188C-979169B15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94298" y="2997837"/>
            <a:ext cx="6929824" cy="2788889"/>
          </a:xfrm>
        </p:spPr>
      </p:pic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02F13EE7-3A02-1543-8777-7B0D0E18B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14" y="2340528"/>
            <a:ext cx="11695025" cy="54108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394A85-E4BF-9A1C-812C-CD0BBAD974DA}"/>
              </a:ext>
            </a:extLst>
          </p:cNvPr>
          <p:cNvSpPr txBox="1"/>
          <p:nvPr/>
        </p:nvSpPr>
        <p:spPr>
          <a:xfrm>
            <a:off x="1929160" y="2321077"/>
            <a:ext cx="7493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https://tinyurl.com/SlackFuzzy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1A7B17-C4FA-689D-95A0-D271522BDD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927862"/>
            <a:ext cx="11893808" cy="56559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0EA75D-CB41-93E6-EAFA-4C1FBF816CF3}"/>
              </a:ext>
            </a:extLst>
          </p:cNvPr>
          <p:cNvSpPr txBox="1"/>
          <p:nvPr/>
        </p:nvSpPr>
        <p:spPr>
          <a:xfrm>
            <a:off x="2449288" y="2340528"/>
            <a:ext cx="4861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linkClick r:id="rId6"/>
              </a:rPr>
              <a:t>https://tinyurl.com/ADMindmap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1300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6D281-579F-D802-6D3F-CEE0A058D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Aways…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57761-9B0C-3D07-7FC1-CC8D180E0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830" y="2526120"/>
            <a:ext cx="8825659" cy="706964"/>
          </a:xfrm>
        </p:spPr>
        <p:txBody>
          <a:bodyPr/>
          <a:lstStyle/>
          <a:p>
            <a:r>
              <a:rPr lang="en-US" dirty="0"/>
              <a:t>Workshops: Protect AD with </a:t>
            </a:r>
            <a:r>
              <a:rPr lang="en-US" dirty="0" err="1"/>
              <a:t>BloodHound</a:t>
            </a:r>
            <a:r>
              <a:rPr lang="en-US" dirty="0"/>
              <a:t>, </a:t>
            </a:r>
            <a:r>
              <a:rPr lang="en-US" dirty="0" err="1"/>
              <a:t>PingCastle</a:t>
            </a:r>
            <a:r>
              <a:rPr lang="en-US" dirty="0"/>
              <a:t>, </a:t>
            </a:r>
            <a:r>
              <a:rPr lang="en-US" dirty="0" err="1"/>
              <a:t>Wazuh</a:t>
            </a:r>
            <a:r>
              <a:rPr lang="en-US" dirty="0"/>
              <a:t> (</a:t>
            </a:r>
            <a:r>
              <a:rPr lang="en-US" dirty="0" err="1"/>
              <a:t>SIEM,XDR,FIM,CISBenchmarks,HID</a:t>
            </a:r>
            <a:r>
              <a:rPr lang="en-US" dirty="0"/>
              <a:t>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538B87-DF31-2142-C3A1-DAB6BE3FA5C6}"/>
              </a:ext>
            </a:extLst>
          </p:cNvPr>
          <p:cNvSpPr txBox="1">
            <a:spLocks/>
          </p:cNvSpPr>
          <p:nvPr/>
        </p:nvSpPr>
        <p:spPr>
          <a:xfrm>
            <a:off x="1154954" y="3271435"/>
            <a:ext cx="10397709" cy="706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Plan: Spreadsheet to research, Patching, Configurations, and Get money/People trained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98796F9-C4C1-2B1F-E089-2986B20485F5}"/>
              </a:ext>
            </a:extLst>
          </p:cNvPr>
          <p:cNvSpPr txBox="1">
            <a:spLocks/>
          </p:cNvSpPr>
          <p:nvPr/>
        </p:nvSpPr>
        <p:spPr>
          <a:xfrm>
            <a:off x="1154954" y="4016750"/>
            <a:ext cx="9144606" cy="706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While you wait to “Hire a Hacker” to find GAPS look into CrowdStrike$5 SOC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5FDB87-6CA4-3ED5-A4BA-E32662B2AA56}"/>
              </a:ext>
            </a:extLst>
          </p:cNvPr>
          <p:cNvSpPr txBox="1"/>
          <p:nvPr/>
        </p:nvSpPr>
        <p:spPr>
          <a:xfrm>
            <a:off x="2297151" y="5129561"/>
            <a:ext cx="392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https://tinyurl.com/JesseShare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7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2D529E20-662F-4915-ACD7-970C026F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3527283" y="1857885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5" descr="A dog on a boat&#10;&#10;Description automatically generated">
            <a:extLst>
              <a:ext uri="{FF2B5EF4-FFF2-40B4-BE49-F238E27FC236}">
                <a16:creationId xmlns:a16="http://schemas.microsoft.com/office/drawing/2014/main" id="{DF125425-C2E6-B686-F193-9649DF701EF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72" r="-1" b="15799"/>
          <a:stretch/>
        </p:blipFill>
        <p:spPr>
          <a:xfrm>
            <a:off x="423337" y="402166"/>
            <a:ext cx="4932951" cy="6053670"/>
          </a:xfrm>
          <a:custGeom>
            <a:avLst/>
            <a:gdLst/>
            <a:ahLst/>
            <a:cxnLst/>
            <a:rect l="l" t="t" r="r" b="b"/>
            <a:pathLst>
              <a:path w="4932951" h="6053670">
                <a:moveTo>
                  <a:pt x="0" y="0"/>
                </a:moveTo>
                <a:lnTo>
                  <a:pt x="3678393" y="0"/>
                </a:lnTo>
                <a:lnTo>
                  <a:pt x="4478865" y="0"/>
                </a:lnTo>
                <a:lnTo>
                  <a:pt x="4931853" y="0"/>
                </a:lnTo>
                <a:lnTo>
                  <a:pt x="4908487" y="137419"/>
                </a:lnTo>
                <a:lnTo>
                  <a:pt x="4886218" y="274232"/>
                </a:lnTo>
                <a:lnTo>
                  <a:pt x="4864421" y="411650"/>
                </a:lnTo>
                <a:lnTo>
                  <a:pt x="4845759" y="549673"/>
                </a:lnTo>
                <a:lnTo>
                  <a:pt x="4826941" y="687092"/>
                </a:lnTo>
                <a:lnTo>
                  <a:pt x="4809377" y="825115"/>
                </a:lnTo>
                <a:lnTo>
                  <a:pt x="4794322" y="961323"/>
                </a:lnTo>
                <a:lnTo>
                  <a:pt x="4780052" y="1099347"/>
                </a:lnTo>
                <a:lnTo>
                  <a:pt x="4767035" y="1236765"/>
                </a:lnTo>
                <a:lnTo>
                  <a:pt x="4755744" y="1371761"/>
                </a:lnTo>
                <a:lnTo>
                  <a:pt x="4744453" y="1508574"/>
                </a:lnTo>
                <a:lnTo>
                  <a:pt x="4735044" y="1643572"/>
                </a:lnTo>
                <a:lnTo>
                  <a:pt x="4727674" y="1778568"/>
                </a:lnTo>
                <a:lnTo>
                  <a:pt x="4719990" y="1912960"/>
                </a:lnTo>
                <a:lnTo>
                  <a:pt x="4713560" y="2046141"/>
                </a:lnTo>
                <a:lnTo>
                  <a:pt x="4709012" y="2178111"/>
                </a:lnTo>
                <a:lnTo>
                  <a:pt x="4705092" y="2310081"/>
                </a:lnTo>
                <a:lnTo>
                  <a:pt x="4701328" y="2440840"/>
                </a:lnTo>
                <a:lnTo>
                  <a:pt x="4699603" y="2569783"/>
                </a:lnTo>
                <a:lnTo>
                  <a:pt x="4697721" y="2698726"/>
                </a:lnTo>
                <a:lnTo>
                  <a:pt x="4696780" y="2825853"/>
                </a:lnTo>
                <a:lnTo>
                  <a:pt x="4697721" y="2951770"/>
                </a:lnTo>
                <a:lnTo>
                  <a:pt x="4697721" y="3076475"/>
                </a:lnTo>
                <a:lnTo>
                  <a:pt x="4699603" y="3199970"/>
                </a:lnTo>
                <a:lnTo>
                  <a:pt x="4702426" y="3321043"/>
                </a:lnTo>
                <a:lnTo>
                  <a:pt x="4705092" y="3440906"/>
                </a:lnTo>
                <a:lnTo>
                  <a:pt x="4708071" y="3558347"/>
                </a:lnTo>
                <a:lnTo>
                  <a:pt x="4712619" y="3675183"/>
                </a:lnTo>
                <a:lnTo>
                  <a:pt x="4717480" y="3790203"/>
                </a:lnTo>
                <a:lnTo>
                  <a:pt x="4721871" y="3902801"/>
                </a:lnTo>
                <a:lnTo>
                  <a:pt x="4734260" y="4122549"/>
                </a:lnTo>
                <a:lnTo>
                  <a:pt x="4747433" y="4333217"/>
                </a:lnTo>
                <a:lnTo>
                  <a:pt x="4761233" y="4535409"/>
                </a:lnTo>
                <a:lnTo>
                  <a:pt x="4776445" y="4726705"/>
                </a:lnTo>
                <a:lnTo>
                  <a:pt x="4792283" y="4909526"/>
                </a:lnTo>
                <a:lnTo>
                  <a:pt x="4809377" y="5079029"/>
                </a:lnTo>
                <a:lnTo>
                  <a:pt x="4826157" y="5238240"/>
                </a:lnTo>
                <a:lnTo>
                  <a:pt x="4842936" y="5384739"/>
                </a:lnTo>
                <a:lnTo>
                  <a:pt x="4858775" y="5519131"/>
                </a:lnTo>
                <a:lnTo>
                  <a:pt x="4873830" y="5638388"/>
                </a:lnTo>
                <a:lnTo>
                  <a:pt x="4888100" y="5746143"/>
                </a:lnTo>
                <a:lnTo>
                  <a:pt x="4900019" y="5836948"/>
                </a:lnTo>
                <a:lnTo>
                  <a:pt x="4911310" y="5913225"/>
                </a:lnTo>
                <a:lnTo>
                  <a:pt x="4927462" y="6017953"/>
                </a:lnTo>
                <a:lnTo>
                  <a:pt x="4932951" y="6053670"/>
                </a:lnTo>
                <a:lnTo>
                  <a:pt x="4478865" y="6053670"/>
                </a:lnTo>
                <a:lnTo>
                  <a:pt x="3683097" y="6053670"/>
                </a:lnTo>
                <a:lnTo>
                  <a:pt x="0" y="6053670"/>
                </a:lnTo>
                <a:close/>
              </a:path>
            </a:pathLst>
          </a:custGeom>
        </p:spPr>
      </p:pic>
      <p:sp>
        <p:nvSpPr>
          <p:cNvPr id="32" name="Freeform 5">
            <a:extLst>
              <a:ext uri="{FF2B5EF4-FFF2-40B4-BE49-F238E27FC236}">
                <a16:creationId xmlns:a16="http://schemas.microsoft.com/office/drawing/2014/main" id="{1AD5EB79-7F9A-4BBC-92A5-188382CBA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ED3217-7401-E24F-B0B2-97608709D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5061" y="1241266"/>
            <a:ext cx="5428551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4D7E9-2F70-8B4E-B68C-E81CDD449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5061" y="4591665"/>
            <a:ext cx="5428551" cy="16223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cap="all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Outside of work: </a:t>
            </a:r>
            <a:r>
              <a:rPr lang="en-US" cap="all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5"/>
              </a:rPr>
              <a:t>jessefmoore@gmail.com</a:t>
            </a:r>
            <a:endParaRPr lang="en-US" cap="all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@jessefmoore on Twitter</a:t>
            </a:r>
            <a:endParaRPr lang="en-US" cap="all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cap="all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Collab at work: </a:t>
            </a:r>
            <a:r>
              <a:rPr lang="en-US" cap="all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6"/>
              </a:rPr>
              <a:t>moorej1@uw.edu</a:t>
            </a:r>
            <a:endParaRPr lang="en-US" cap="all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cap="all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9B8A17F-DC3A-4D9A-AA53-9BFB894CD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ECA73-2ECD-CE2A-5B86-692CD2C31D1E}"/>
              </a:ext>
            </a:extLst>
          </p:cNvPr>
          <p:cNvSpPr txBox="1"/>
          <p:nvPr/>
        </p:nvSpPr>
        <p:spPr>
          <a:xfrm>
            <a:off x="256442" y="1575288"/>
            <a:ext cx="4634278" cy="33887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01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78941-7C9D-F6FB-FF53-AEEA87761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0DBA7-1F26-3C46-1B64-7DE0CF14B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9104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Roboto"/>
                <a:ea typeface="Roboto"/>
                <a:cs typeface="Roboto"/>
              </a:rPr>
              <a:t>CIS CSAT Ransomware Business Impact Analysis tool: https://bia.cisecurity.org/?next=/dashboard/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ED950F-60DD-B713-15DE-119844DC65D8}"/>
              </a:ext>
            </a:extLst>
          </p:cNvPr>
          <p:cNvSpPr txBox="1"/>
          <p:nvPr/>
        </p:nvSpPr>
        <p:spPr>
          <a:xfrm>
            <a:off x="1227666" y="3598333"/>
            <a:ext cx="653814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rgbClr val="8F8F8F"/>
                </a:solidFill>
                <a:latin typeface="Calibri"/>
                <a:ea typeface="Calibri"/>
                <a:cs typeface="Calibri"/>
                <a:hlinkClick r:id="rId3"/>
              </a:rPr>
              <a:t>Release Ransomware Readiness Assessment CSET v10.3 · cisagov/cset (github.com)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02651E-0D31-253F-7645-5A5BDFCCD938}"/>
              </a:ext>
            </a:extLst>
          </p:cNvPr>
          <p:cNvSpPr txBox="1"/>
          <p:nvPr/>
        </p:nvSpPr>
        <p:spPr>
          <a:xfrm>
            <a:off x="1246481" y="4656666"/>
            <a:ext cx="59266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  <a:hlinkClick r:id="rId4"/>
              </a:rPr>
              <a:t>Tips and Tactics: Ransomware (nist.gov)</a:t>
            </a:r>
            <a:endParaRPr lang="en-US">
              <a:hlinkClick r:id="rId4"/>
            </a:endParaRPr>
          </a:p>
        </p:txBody>
      </p:sp>
      <p:pic>
        <p:nvPicPr>
          <p:cNvPr id="6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654D665-A84E-0B24-B120-7EA1F7368B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7690" y="1324055"/>
            <a:ext cx="2743200" cy="2554793"/>
          </a:xfrm>
          <a:prstGeom prst="rect">
            <a:avLst/>
          </a:prstGeom>
        </p:spPr>
      </p:pic>
      <p:pic>
        <p:nvPicPr>
          <p:cNvPr id="7" name="Picture 7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6AA984DE-A995-34EB-C5D9-AACBC30F4E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4723" y="3425560"/>
            <a:ext cx="4504812" cy="3399009"/>
          </a:xfrm>
          <a:prstGeom prst="rect">
            <a:avLst/>
          </a:prstGeom>
        </p:spPr>
      </p:pic>
      <p:pic>
        <p:nvPicPr>
          <p:cNvPr id="8" name="Picture 8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BE8D8282-7AE3-3482-77D7-5CD7CFFA99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578" y="1332181"/>
            <a:ext cx="7175908" cy="608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29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2022_Ransomware</Template>
  <TotalTime>2735</TotalTime>
  <Words>2535</Words>
  <Application>Microsoft Office PowerPoint</Application>
  <PresentationFormat>Widescreen</PresentationFormat>
  <Paragraphs>360</Paragraphs>
  <Slides>24</Slides>
  <Notes>23</Notes>
  <HiddenSlides>5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Arial,Sans-Serif</vt:lpstr>
      <vt:lpstr>Calibri</vt:lpstr>
      <vt:lpstr>Century Gothic</vt:lpstr>
      <vt:lpstr>Roboto</vt:lpstr>
      <vt:lpstr>Segoe UI</vt:lpstr>
      <vt:lpstr>Times New Roman</vt:lpstr>
      <vt:lpstr>Wingdings</vt:lpstr>
      <vt:lpstr>Wingdings 3</vt:lpstr>
      <vt:lpstr>Ion Boardroom</vt:lpstr>
      <vt:lpstr>Misconfigurations Cyber Criminals hope you missed in Active Directory</vt:lpstr>
      <vt:lpstr>Disclaimer</vt:lpstr>
      <vt:lpstr>PowerPoint Presentation</vt:lpstr>
      <vt:lpstr>Security Projects (Security Pan/Program?) </vt:lpstr>
      <vt:lpstr>Who is this?</vt:lpstr>
      <vt:lpstr>Agenda</vt:lpstr>
      <vt:lpstr>What has Jesse Been up to?</vt:lpstr>
      <vt:lpstr>AD Misconfig using regular domain user</vt:lpstr>
      <vt:lpstr>misconfig at Home?</vt:lpstr>
      <vt:lpstr>School Active Directory hit by Ransomware! School had Insurance!!!</vt:lpstr>
      <vt:lpstr>AD Assessment</vt:lpstr>
      <vt:lpstr>AD Assessment Part 2</vt:lpstr>
      <vt:lpstr>Go over an attack</vt:lpstr>
      <vt:lpstr>PowerPoint Presentation</vt:lpstr>
      <vt:lpstr>PowerPoint Presentation</vt:lpstr>
      <vt:lpstr>TIP: Early warning detection system (LLMNR and Twitter?)</vt:lpstr>
      <vt:lpstr>Steps to move thru your machine</vt:lpstr>
      <vt:lpstr>Admin Tools ; slow down hacker... to ease your mind...when news hits! </vt:lpstr>
      <vt:lpstr>TableTop scenario to plan for</vt:lpstr>
      <vt:lpstr>Security Projects to help you sleep better… </vt:lpstr>
      <vt:lpstr>What you can’t See or Know; = What You can’t Detect/Prevent!</vt:lpstr>
      <vt:lpstr>Take Aways…</vt:lpstr>
      <vt:lpstr>Thank you!</vt:lpstr>
      <vt:lpstr>Other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Ransomware &amp; Tools</dc:title>
  <dc:creator>Jesse F Moore</dc:creator>
  <cp:lastModifiedBy>Jesse F Moore</cp:lastModifiedBy>
  <cp:revision>10</cp:revision>
  <dcterms:created xsi:type="dcterms:W3CDTF">2022-09-27T14:36:41Z</dcterms:created>
  <dcterms:modified xsi:type="dcterms:W3CDTF">2026-10-07T21:51:00Z</dcterms:modified>
</cp:coreProperties>
</file>